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0cd508f3be2476e" Type="http://schemas.openxmlformats.org/officeDocument/2006/relationships/extended-properties" Target="docProps/app.xml"/><Relationship Id="R06be2cbc55424b4a" Type="http://schemas.openxmlformats.org/package/2006/relationships/metadata/core-properties" Target="docProps/core.xml"/><Relationship Id="R084e339ba4ac4502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1a02dcfcd45e1"/>
  </p:sldMasterIdLst>
  <p:notesMasterIdLst>
    <p:notesMasterId xmlns:r="http://schemas.openxmlformats.org/officeDocument/2006/relationships" r:id="Rba117939ffd543cb"/>
  </p:notesMasterIdLst>
  <p:sldIdLst>
    <p:sldId xmlns:r="http://schemas.openxmlformats.org/officeDocument/2006/relationships" id="256" r:id="Ref4c2edb3a824fc7"/>
    <p:sldId xmlns:r="http://schemas.openxmlformats.org/officeDocument/2006/relationships" id="257" r:id="R49b7d4f137774fa2"/>
    <p:sldId xmlns:r="http://schemas.openxmlformats.org/officeDocument/2006/relationships" id="258" r:id="R378cff41a7404d4c"/>
    <p:sldId xmlns:r="http://schemas.openxmlformats.org/officeDocument/2006/relationships" id="259" r:id="R9d97c439d1d44a57"/>
    <p:sldId xmlns:r="http://schemas.openxmlformats.org/officeDocument/2006/relationships" id="260" r:id="R99525c2112854031"/>
    <p:sldId xmlns:r="http://schemas.openxmlformats.org/officeDocument/2006/relationships" id="261" r:id="R809f6332ac754bd0"/>
    <p:sldId xmlns:r="http://schemas.openxmlformats.org/officeDocument/2006/relationships" id="262" r:id="Re5fafa22d92a4128"/>
    <p:sldId xmlns:r="http://schemas.openxmlformats.org/officeDocument/2006/relationships" id="263" r:id="Re32f2915cb6549e7"/>
    <p:sldId xmlns:r="http://schemas.openxmlformats.org/officeDocument/2006/relationships" id="264" r:id="Rea67719bdec5444c"/>
    <p:sldId xmlns:r="http://schemas.openxmlformats.org/officeDocument/2006/relationships" id="265" r:id="R203aa0c168304a33"/>
    <p:sldId xmlns:r="http://schemas.openxmlformats.org/officeDocument/2006/relationships" id="266" r:id="R85cf880b11c840c2"/>
    <p:sldId xmlns:r="http://schemas.openxmlformats.org/officeDocument/2006/relationships" id="267" r:id="R0391b961f44d4d9f"/>
    <p:sldId xmlns:ns0="http://schemas.openxmlformats.org/officeDocument/2006/relationships" id="274" ns0:id="rId25"/>
    <p:sldId xmlns:r="http://schemas.openxmlformats.org/officeDocument/2006/relationships" id="268" r:id="R201634583f31494f"/>
    <p:sldId xmlns:r="http://schemas.openxmlformats.org/officeDocument/2006/relationships" id="269" r:id="Rc663ec28669c480f"/>
    <p:sldId xmlns:r="http://schemas.openxmlformats.org/officeDocument/2006/relationships" id="270" r:id="Re5d612c0f64a4b1b"/>
    <p:sldId xmlns:r="http://schemas.openxmlformats.org/officeDocument/2006/relationships" id="271" r:id="R3feaa5eab2f44ba6"/>
    <p:sldId xmlns:r="http://schemas.openxmlformats.org/officeDocument/2006/relationships" id="272" r:id="Re3b09d8e52954cd1"/>
    <p:sldId xmlns:r="http://schemas.openxmlformats.org/officeDocument/2006/relationships" id="273" r:id="R3196ca2e400840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391b961f44d4d9f" Type="http://schemas.openxmlformats.org/officeDocument/2006/relationships/slide" Target="slides/slide12.xml"/><Relationship Id="R201634583f31494f" Type="http://schemas.openxmlformats.org/officeDocument/2006/relationships/slide" Target="slides/slide13.xml"/><Relationship Id="R203aa0c168304a33" Type="http://schemas.openxmlformats.org/officeDocument/2006/relationships/slide" Target="slides/slide10.xml"/><Relationship Id="R2ac1a02dcfcd45e1" Type="http://schemas.openxmlformats.org/officeDocument/2006/relationships/slideMaster" Target="slideMasters/slideMaster1.xml"/><Relationship Id="R3196ca2e400840ab" Type="http://schemas.openxmlformats.org/officeDocument/2006/relationships/slide" Target="slides/slide18.xml"/><Relationship Id="R378cff41a7404d4c" Type="http://schemas.openxmlformats.org/officeDocument/2006/relationships/slide" Target="slides/slide3.xml"/><Relationship Id="R3d1d0e04e91142ce" Type="http://schemas.openxmlformats.org/officeDocument/2006/relationships/presProps" Target="presProps.xml"/><Relationship Id="R3feaa5eab2f44ba6" Type="http://schemas.openxmlformats.org/officeDocument/2006/relationships/slide" Target="slides/slide16.xml"/><Relationship Id="R49b7d4f137774fa2" Type="http://schemas.openxmlformats.org/officeDocument/2006/relationships/slide" Target="slides/slide2.xml"/><Relationship Id="R5752d6ea063a4040" Type="http://schemas.openxmlformats.org/officeDocument/2006/relationships/tableStyles" Target="tableStyles.xml"/><Relationship Id="R809f6332ac754bd0" Type="http://schemas.openxmlformats.org/officeDocument/2006/relationships/slide" Target="slides/slide6.xml"/><Relationship Id="R85cf880b11c840c2" Type="http://schemas.openxmlformats.org/officeDocument/2006/relationships/slide" Target="slides/slide11.xml"/><Relationship Id="R99525c2112854031" Type="http://schemas.openxmlformats.org/officeDocument/2006/relationships/slide" Target="slides/slide5.xml"/><Relationship Id="R9d97c439d1d44a57" Type="http://schemas.openxmlformats.org/officeDocument/2006/relationships/slide" Target="slides/slide4.xml"/><Relationship Id="Rad20f44fc907424b" Type="http://schemas.openxmlformats.org/officeDocument/2006/relationships/viewProps" Target="viewProps.xml"/><Relationship Id="Rba117939ffd543cb" Type="http://schemas.openxmlformats.org/officeDocument/2006/relationships/notesMaster" Target="notesMasters/notesMaster1.xml"/><Relationship Id="Rc663ec28669c480f" Type="http://schemas.openxmlformats.org/officeDocument/2006/relationships/slide" Target="slides/slide14.xml"/><Relationship Id="Re32f2915cb6549e7" Type="http://schemas.openxmlformats.org/officeDocument/2006/relationships/slide" Target="slides/slide8.xml"/><Relationship Id="Re3b09d8e52954cd1" Type="http://schemas.openxmlformats.org/officeDocument/2006/relationships/slide" Target="slides/slide17.xml"/><Relationship Id="Re5d612c0f64a4b1b" Type="http://schemas.openxmlformats.org/officeDocument/2006/relationships/slide" Target="slides/slide15.xml"/><Relationship Id="Re5fafa22d92a4128" Type="http://schemas.openxmlformats.org/officeDocument/2006/relationships/slide" Target="slides/slide7.xml"/><Relationship Id="Rea67719bdec5444c" Type="http://schemas.openxmlformats.org/officeDocument/2006/relationships/slide" Target="slides/slide9.xml"/><Relationship Id="Ref4c2edb3a824fc7" Type="http://schemas.openxmlformats.org/officeDocument/2006/relationships/slide" Target="slides/slide1.xml"/><Relationship Id="Rf908a4d1970b4503" Type="http://schemas.openxmlformats.org/officeDocument/2006/relationships/theme" Target="theme/theme1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32b4a388d150470c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64bc3c3b0b2410a" Type="http://schemas.openxmlformats.org/officeDocument/2006/relationships/notesMaster" Target="../notesMasters/notesMaster1.xml"/><Relationship Id="Ra81792ca373f494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091b0ca72024260" Type="http://schemas.openxmlformats.org/officeDocument/2006/relationships/notesMaster" Target="../notesMasters/notesMaster1.xml"/><Relationship Id="Rde83f767f66a4d4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94b6e103edf4cfb" Type="http://schemas.openxmlformats.org/officeDocument/2006/relationships/slide" Target="../slides/slide3.xml"/><Relationship Id="R31619ad76dd0492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efd1838d6a543e0" Type="http://schemas.openxmlformats.org/officeDocument/2006/relationships/notesMaster" Target="../notesMasters/notesMaster1.xml"/><Relationship Id="Rb692d2abac7d46e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34577167bf466c" Type="http://schemas.openxmlformats.org/officeDocument/2006/relationships/slide" Target="../slides/slide5.xml"/><Relationship Id="Ref83d8aa335449c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3c597c094d54c5d" Type="http://schemas.openxmlformats.org/officeDocument/2006/relationships/slide" Target="../slides/slide6.xml"/><Relationship Id="Rc2e0a0c7323d4e9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22bb7e9c9284e6e" Type="http://schemas.openxmlformats.org/officeDocument/2006/relationships/slide" Target="../slides/slide7.xml"/><Relationship Id="Rf489b4e44eaf499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41e765987dd4b9c" Type="http://schemas.openxmlformats.org/officeDocument/2006/relationships/notesMaster" Target="../notesMasters/notesMaster1.xml"/><Relationship Id="R54db3cf4d958481e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9651ebc473e4a21" Type="http://schemas.openxmlformats.org/officeDocument/2006/relationships/slide" Target="../slides/slide9.xml"/><Relationship Id="Rcd46f1a035f54209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4b26183d6d94985" Type="http://schemas.openxmlformats.org/officeDocument/2006/relationships/notesMaster" Target="../notesMasters/notesMaster1.xml"/><Relationship Id="Rd4c6d55cb01d44f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e0b7ae4e0fa4a2f" Type="http://schemas.openxmlformats.org/officeDocument/2006/relationships/slide" Target="../slides/slide11.xml"/><Relationship Id="Rea7d6e1aa92e4569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b384b703cbd9493b" Type="http://schemas.openxmlformats.org/officeDocument/2006/relationships/notesMaster" Target="../notesMasters/notesMaster1.xml"/><Relationship Id="Rfe44831b0e70424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7c25b4dfbe8b45ec" Type="http://schemas.openxmlformats.org/officeDocument/2006/relationships/notesMaster" Target="../notesMasters/notesMaster1.xml"/><Relationship Id="Reb1e31100011453a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a524e5284c99403f" Type="http://schemas.openxmlformats.org/officeDocument/2006/relationships/notesMaster" Target="../notesMasters/notesMaster1.xml"/><Relationship Id="Rdaace171f9504873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249ecade81b42b0" Type="http://schemas.openxmlformats.org/officeDocument/2006/relationships/notesMaster" Target="../notesMasters/notesMaster1.xml"/><Relationship Id="R916b3d2c8274468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3fb79b79c1584ebc" Type="http://schemas.openxmlformats.org/officeDocument/2006/relationships/slide" Target="../slides/slide16.xml"/><Relationship Id="R67ab09958ca34935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64d46d4c82b74b46" Type="http://schemas.openxmlformats.org/officeDocument/2006/relationships/notesMaster" Target="../notesMasters/notesMaster1.xml"/><Relationship Id="Rf70ff25f1e9b41b3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719e76d26504627" Type="http://schemas.openxmlformats.org/officeDocument/2006/relationships/notesMaster" Target="../notesMasters/notesMaster1.xml"/><Relationship Id="R5948ed7d835e4ab1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6b6010a189c84bd3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cb8da9f1abd4d8a" Type="http://schemas.openxmlformats.org/officeDocument/2006/relationships/theme" Target="../theme/theme1.xml"/><Relationship Id="Ra966233fc1dd4135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6233fc1dd41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8147c539f1bc4797" Type="http://schemas.openxmlformats.org/officeDocument/2006/relationships/slideLayout" Target="../slideLayouts/slideLayout2.xml"/><Relationship Id="Rb3a2709b48454b0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f4957dc0c4d47be" Type="http://schemas.openxmlformats.org/officeDocument/2006/relationships/slideLayout" Target="../slideLayouts/slideLayout2.xml"/><Relationship Id="Rb507089099c7402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d68e29045c84154" Type="http://schemas.openxmlformats.org/officeDocument/2006/relationships/notesSlide" Target="../notesSlides/notesSlide3.xml"/><Relationship Id="R2e9ef292d4e64507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7bf99a1fc57b42fc" Type="http://schemas.openxmlformats.org/officeDocument/2006/relationships/slideLayout" Target="../slideLayouts/slideLayout2.xml"/><Relationship Id="Rdf34582383fe48ff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1cbb76f69a74f1d" Type="http://schemas.openxmlformats.org/officeDocument/2006/relationships/slideLayout" Target="../slideLayouts/slideLayout2.xml"/><Relationship Id="Rc71de2cb456b481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2f0f4452bb846f5" Type="http://schemas.openxmlformats.org/officeDocument/2006/relationships/notesSlide" Target="../notesSlides/notesSlide6.xml"/><Relationship Id="R047f7788d7f44216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17f46731db7948a4" Type="http://schemas.openxmlformats.org/officeDocument/2006/relationships/notesSlide" Target="../notesSlides/notesSlide7.xml"/><Relationship Id="R8bb4b2c17bfe4cb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9554a9b8d9624eb4" Type="http://schemas.openxmlformats.org/officeDocument/2006/relationships/slideLayout" Target="../slideLayouts/slideLayout2.xml"/><Relationship Id="Rb3e5e7e525d3416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59497a49f4a4d69" Type="http://schemas.openxmlformats.org/officeDocument/2006/relationships/slideLayout" Target="../slideLayouts/slideLayout2.xml"/><Relationship Id="Raf892cad73304ef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05786f86ddd4b42" Type="http://schemas.openxmlformats.org/officeDocument/2006/relationships/notesSlide" Target="../notesSlides/notesSlide10.xml"/><Relationship Id="Rfdc4bf05022b47d4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ecbd6ffa037b40e0" Type="http://schemas.openxmlformats.org/officeDocument/2006/relationships/notesSlide" Target="../notesSlides/notesSlide11.xml"/><Relationship Id="Rfc52b7319275448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5aa9495f859e479c" Type="http://schemas.openxmlformats.org/officeDocument/2006/relationships/slideLayout" Target="../slideLayouts/slideLayout2.xml"/><Relationship Id="Rda962f7d4502446c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1f69d594cfd4461e" Type="http://schemas.openxmlformats.org/officeDocument/2006/relationships/notesSlide" Target="../notesSlides/notesSlide13.xml"/><Relationship Id="Rbdbb5fb1bfd54bb5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39bbd69ac27d48a3" Type="http://schemas.openxmlformats.org/officeDocument/2006/relationships/notesSlide" Target="../notesSlides/notesSlide14.xml"/><Relationship Id="Rbdf04855518a4253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251518ae65404bf9" Type="http://schemas.openxmlformats.org/officeDocument/2006/relationships/slideLayout" Target="../slideLayouts/slideLayout2.xml"/><Relationship Id="R6c16e25a0007428e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f490513cd2d43f5" Type="http://schemas.openxmlformats.org/officeDocument/2006/relationships/slideLayout" Target="../slideLayouts/slideLayout2.xml"/><Relationship Id="R7ed0bcfcc00444b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d08867949be84473" Type="http://schemas.openxmlformats.org/officeDocument/2006/relationships/slideLayout" Target="../slideLayouts/slideLayout2.xml"/><Relationship Id="Rd203fbffa3a349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25707c6d548649ab" Type="http://schemas.openxmlformats.org/officeDocument/2006/relationships/slideLayout" Target="../slideLayouts/slideLayout2.xml"/><Relationship Id="R59fb26ea00364f6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4D6E5-6036-443B-90A6-D0CFF059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88044-7672-4C60-B20B-BFA0E1A1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580BA-DBCB-4898-BF2F-FB4E3687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RWKV Paradigm Migration 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E5B94-C50A-4B8C-995F-D37425F0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8096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GLM-5.1 / DeepSeek V4</a:t>
            </a:r>
          </a:p>
          <a:p xmlns:a="http://schemas.openxmlformats.org/drawingml/2006/main">
            <a:pPr algn="l">
              <a:defRPr sz="30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Migration to RWKV: Cost and Serving Economics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41D14-616C-44FB-A6DD-EE1F88F3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Not a proof of concept: this is a move from Transformer attention / KV-cache serving to recurrent-state / high-concurrency serving.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D4F2E-05C9-477D-ABD3-5F7FE6A1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0477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F6A33-317E-45D0-A7F4-86B052E6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478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rwkv.cn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C0EE0-EFF9-41B9-920B-36812BD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next-generation LLM architecture</a:t>
            </a:r>
          </a:p>
          <a:p xmlns:a="http://schemas.openxmlformats.org/drawingml/2006/main">
            <a:pPr algn="ctr">
              <a:defRPr sz="1050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attention-free / no KV cache</a:t>
            </a:r>
          </a:p>
          <a:p xmlns:a="http://schemas.openxmlformats.org/drawingml/2006/main">
            <a:pPr algn="ctr">
              <a:defRPr sz="1050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constant speed /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DE8E1-A6C3-4F2F-B913-C83F5722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0E794-E7D7-4BDB-85FE-81E09FD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14675"/>
            <a:ext cx="1123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PARADIGM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A89BC-20B2-4726-A52E-A609E3D1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ED55D-31B2-4DEB-9BF0-CD788416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06B72-2A0D-41BC-AF76-99C24FB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RADLADS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6F218-A23B-4211-840F-AD25917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migration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3DFA0-C4C5-4A84-A78A-923BB1F0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white-box full-size conversion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9FC0E-155F-4377-B126-D654AF86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B763B-EB3B-4904-AF56-A3D49B3F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DeepSeek Flash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8B485-9100-48A2-9146-2447696A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863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first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71C45-3C67-4C0B-869A-717901CC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578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284B/292B total, 13B active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0FEBA-292C-451C-BB53-328BB414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57BE3-7FD0-4ECA-8923-2E69B973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GLM-5.1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C869A-20BE-4803-8F4E-467FCD7C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second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1DAAD-5135-4360-8002-0F1220DD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578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754B-class open weight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7BA3F-05A0-46D7-84CB-1253D480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solidFill>
              <a:srgbClr val="EF6A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95CC4-D5C3-4483-BE19-85026F55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530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2x-6x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7996E-CA98-46FD-9730-C6F52280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86375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serving upside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4DB6A-9948-4D19-8A25-4351D28D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578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depends on concurrency and cache pressure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CB39A2-5279-4DA0-9A77-6ED3EE68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2B196-569B-4DFA-9AC1-0B1B809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90627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387B78-D76A-4728-82E4-3F2A5E57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1C7E1-8E82-4224-A744-96A9198C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8471B-6E2F-4671-A6DE-499AB7AA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CORE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E0C7D-6E61-4879-A663-706E0210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Decision: convert DeepSeek V4 Flash first, then GLM-5.1.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31133-1EEE-49D9-BFB5-182294E8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A80D7-8315-4378-A81F-9C80F8D1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067A5-691B-47B1-B67F-5F4DE062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982D1-31F6-4436-B825-D95CBDF3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F173B-55B7-444B-8DE4-6F25D23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19E11-ED20-4168-9118-4D8AA8D7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09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DE108-35B7-4B9A-B8D1-0569B211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85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Recommendation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EC4EB-99D0-4D20-B037-A669F178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41703-6147-4FBB-9200-466A2A30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859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E72A7-A156-4026-BA59-D702AAEB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4DA0C-9C62-4D04-9D99-4A7A89DF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964D2-0231-40A6-A0EE-654F8B4D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0F8AB-B452-4CFB-812E-73B17511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Main 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D8BAB-16F7-4846-BE8F-2A64B821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24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06A18-93A2-452F-82E0-DD11AFBD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RADLADS full-size white-box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0F44DD-431F-4B1F-8ADB-2BACF18D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B512B-ED31-4896-B900-6EC9185A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Preserves tokenizer, MLP/MoE and most knowledge path; replaces the sequence mixer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30173-5D2F-4176-87EC-D68DB3D1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74E7F-0302-4F7E-9C85-C49FF453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Medium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5441F-AAF0-41D0-B60E-49C9AC3C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EBE24C-C4D6-4085-945D-8B0A372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First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31819-45BC-4175-90BB-C4D26C43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38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C688F-44D1-48F2-A0EF-BF254F2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Flash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7DC81-4751-4597-9FDC-B483396D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00512D-C1F4-4B41-9E15-975C5F19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146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1M context, 13B active; best scale for debugging the architecture 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B59C3-A119-44F3-8944-9A0B88B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588C2-62B3-4D21-8BE9-A3CD91C2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Medium-low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A6E1E2-0B59-4DD9-89C6-89E035BD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AB66F2-AAEE-4279-B6DF-A432AB41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Second target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F0DAD-8A6D-452B-97A0-DF53000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B75C90-3D12-401D-8B0A-459CC247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8D3C30-EB26-46C8-89A5-72D0DA20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384B17-2383-449B-8D57-EE85647F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290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Larger economic upside, but 754B total / top-8 MoE raises infra risk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E7A51C-0213-48E6-B5F8-CE27FB58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785508-BC98-4CAA-83F5-3B6BC78F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290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7CCE0F-BCB7-4665-AD21-1E7157A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DCFBA6-DE02-4A1A-8835-F18BB99D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Delay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7E9797-24F8-4542-8F93-91939EB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67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29B9D2-EE91-48C0-9E30-04146817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43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Pro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FA2A8-78AB-45B0-8219-7390C34C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67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219FE0-DE46-4488-A768-840CF3EA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433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1.6T total / 49B active; better as a later flagship project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7424B7-D2FB-4C2E-9D80-04984AE1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F5452D-5850-4C39-A1D4-AB4F088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Very low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7853CC-C9A1-4BF0-93B2-74D5F447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62773C-A3C4-42E1-939F-825A379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GAD role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7819AD-C7F9-4F1F-B511-E0C5209D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81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7C83F9-8415-4A64-A4D8-1CDDF881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577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Post-conversion alignment or smaller student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CA29E7-F85D-4800-B01E-2C20E848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81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D8C078-DD89-4450-A724-0D2F56B8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5770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Helps instruction/coding-agent behavior; not architecture migration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0CA25A-500D-45F1-953A-3EF239CA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302B5C-8E75-4645-9092-3D710D88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Medium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09CC14-89B4-47E2-AFFB-D0E6B1D7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D84ADA-B81E-4944-AD5A-D13F8909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610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61D854-A8EF-4953-83A3-94781B7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One-line judgment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F270BF-34A9-4748-8057-EA45CA4F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426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RADLADS is the migration route for long-context/high-concurrency economics. GAD is the behavior-distillation route.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34A6A1-88C3-47E9-B318-45F5EB71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4610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041012-17D5-4CE8-8A47-C7AA85D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Key caveat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C2940B-8A14-4D41-84AE-252299EC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00700"/>
            <a:ext cx="4267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already has a very small KV cache, so RWKV has less upside there than on GLM-5.1.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9A1232-5775-4860-A92A-C55FC500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Sources: RADLADS[4], GAD[5], DeepSeek V4 / GLM-5.1 model cards.</a:t>
            </a:r>
          </a:p>
        </p:txBody>
      </p:sp>
    </p:spTree>
    <p:extLst>
      <p:ext uri="{BB962C8B-B14F-4D97-AF65-F5344CB8AC3E}">
        <p14:creationId xmlns:p14="http://schemas.microsoft.com/office/powerpoint/2010/main" val="7759530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E8EBF-FAA5-4E2B-936C-9E173DD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B5C49-F612-44AA-93E1-20143EC0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E6B39-E9BC-4013-B08C-5ED44F99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RWKV.CN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2B07C-E9C7-4C2B-99A2-193F49D6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rwkv.cn positions RWKV as an architecture paradigm, not a lab substitute.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79342-6803-41C7-AD12-032A0492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77859-F64D-4449-BE7C-6BDA5B4B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2FBBD-A89A-4268-BA52-AC88AAB7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6A351-59AF-44F3-9B4F-E77C2E4E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191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70572-BFEE-482F-912D-3B58856E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Transformer serving paradigm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C3AA4-2CED-4D50-BB0B-9C25A4E9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238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softmax attention</a:t>
            </a:r>
          </a:p>
          <a:p xmlns:a="http://schemas.openxmlformats.org/drawingml/2006/main">
            <a:pPr algn="l">
              <a:def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KV cache grows with context and concurrency</a:t>
            </a:r>
          </a:p>
          <a:p xmlns:a="http://schemas.openxmlformats.org/drawingml/2006/main">
            <a:pPr algn="l">
              <a:def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prefill / decode scheduling</a:t>
            </a:r>
          </a:p>
          <a:p xmlns:a="http://schemas.openxmlformats.org/drawingml/2006/main">
            <a:pPr algn="l">
              <a:def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long sessions create fleet-sizing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754CB-2E18-4A23-A1C2-EA42B6E2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191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74703-B7E6-4F62-AEF6-D04A20C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RWKV recurrent-state paradigm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A287E-37F6-456F-A0C7-CA4FDD36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attention-free direction</a:t>
            </a:r>
          </a:p>
          <a:p xmlns:a="http://schemas.openxmlformats.org/drawingml/2006/main">
            <a:pPr algn="l">
              <a:def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 traditional KV cache</a:t>
            </a:r>
          </a:p>
          <a:p xmlns:a="http://schemas.openxmlformats.org/drawingml/2006/main">
            <a:pPr algn="l">
              <a:def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state is fixed by layers / hidden size</a:t>
            </a:r>
          </a:p>
          <a:p xmlns:a="http://schemas.openxmlformats.org/drawingml/2006/main">
            <a:pPr algn="l">
              <a:def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high-batch serving can keep memory flatter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2246A-B734-4D8E-B2DD-1E2325C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21945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DB993-A1B0-4AE3-A954-E868C695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91350" y="31623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7BBB2-641D-4321-8B11-1108C836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194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25A79-4FD7-47B3-AAD3-ED09A801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67025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MIGRATION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ADA88-B9F7-45A5-880F-BA8E9115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30947-B3FE-4269-9E94-7CB7C08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Official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4B63B-4399-4ED8-B0DD-4677A1AE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rwkv.cn uses phrases such as next-generation architecture, beyond Transformer, no KV cache and high concurrency.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B053B-8C28-45C4-BBF7-0FBB06D9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5663C-9FAE-463C-BA92-0C8A4C74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673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Engineering meaning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0990A-EDF3-4BD8-AB1E-ECE00EC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340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The win comes from the serving shape, not from shrinking 754B or 1.6T checkpoints.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ECD43-A0CC-4F6B-8592-D1F3F39A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B8FAD-7FEA-4080-91E2-B40706AE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Expressivity meaning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8EFF8-A662-474D-8050-95E3B18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RWKV-7 supports the stronger-state claim, but production quality still needs benchmarks.</a:t>
            </a:r>
          </a:p>
        </p:txBody>
      </p:sp>
    </p:spTree>
    <p:extLst>
      <p:ext uri="{BB962C8B-B14F-4D97-AF65-F5344CB8AC3E}">
        <p14:creationId xmlns:p14="http://schemas.microsoft.com/office/powerpoint/2010/main" val="4656813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C7AF1-5FBA-4F62-9EEF-40F422F8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ABAC4-45E2-400E-9226-B7AAB436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FD2D8-9F1F-45F8-913B-4805BE84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GROWING TIMELINE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E184-7480-48E4-81B6-18165878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RWKV has grown from a single architecture into papers, engines, and migration tooling.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7C102-737D-4472-AB07-71577A3E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BD442-615B-4E65-BACB-CCC00A16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63957-324E-4458-B2FB-F64118E2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073CF-E2E0-4EF8-A643-DC8D537A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84EA7-8850-4BB0-B1A8-FA59731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543F1-C3CD-42C8-BA2A-9FDDCA5C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2023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E7906-CFBA-4639-BF3A-62321AC6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RWKV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4EEB4-05E4-4F7D-8584-4763CCFB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00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Reinventing RNNs for the Transformer Era [1]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193C1-72AF-4A92-AA03-8F40058D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E8F8E-B408-49A9-AEF4-4A1EFEB5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5401F-ED75-4A18-87A5-9B6F6DA3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Eagle / Finch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E0E26-3A77-4D04-8DB2-CABC069E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00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matrix-valued states and dynamic recurrence [2]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A0500-6F8E-4423-BC84-A136E8BA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97558-3C1D-4944-8ECA-00B7B997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9FEF9-1974-4C82-B77C-32CAD852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RWKV-7 Goose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51173-BE72-4BE7-9423-E9C9A98B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0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dynamic state evolution and expressivity [3]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C103A-74B3-4A55-B02E-3F556623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solidFill>
              <a:srgbClr val="EF6A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420D2-3942-40C6-AFE9-D6E776E8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2025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D207D-C659-4CC6-B8D2-F9FCC0B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RADLADS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28996-2CCF-425A-A828-B9311FD7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0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Transformer -&gt; RWKV/linear decoder conversion [4]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BEAC9-4C92-4EA0-8002-594C47C9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solidFill>
              <a:srgbClr val="72A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80C42-4364-4FD2-95B9-99B7169F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14600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2A7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72A7FF"/>
                </a:solidFill>
                <a:latin typeface="Avenir Next"/>
                <a:ea typeface="Avenir Next"/>
                <a:cs typeface="Avenir Next"/>
              </a:rPr>
              <a:t>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27C96-15C4-4B11-94C7-2CB8EAE7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OpenMOSE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113B1-8DA6-491C-82EC-EF8EF7F7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73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RWKV-GLM-4.7-Flash full-size reference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41C98-C26C-40C3-83F9-93E0B829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0AF933-D5CE-4F18-90DD-31CA5236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Architecture 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2AB14B-4A0C-4756-9804-8DB4102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 -&gt; Eagle/Finch -&gt; RWKV-7 advances state representation, dynamic recurrence and efficient sequence modeling.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0F0862-206D-4B74-9028-8AA4026C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C80D03-BB11-48FC-B7A1-DD5B16D6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720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Migration 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54BAF1-06BF-4591-B22A-24654D00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38750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RADLADS and OpenMOSE make conversion from existing Transformer/MoE models operational.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FE5C89-7750-47C9-86BF-E9797B39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FA4F72-FF70-4E87-B223-7C738C5B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720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Serving 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7467FA-C269-4825-9DE8-65819EB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3875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Albatross / high-concurrency work turns no-KV-cache mechanics into throughput and memory advantages.</a:t>
            </a:r>
          </a:p>
        </p:txBody>
      </p:sp>
    </p:spTree>
    <p:extLst>
      <p:ext uri="{BB962C8B-B14F-4D97-AF65-F5344CB8AC3E}">
        <p14:creationId xmlns:p14="http://schemas.microsoft.com/office/powerpoint/2010/main" val="18988215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3280E-BBA0-4EE0-BDB1-2E35422C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48428-F111-4D9D-B4FD-C363F7CA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9D0DE-222C-468B-938E-D462A6BB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EXPRESSIVITY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4FA9C-940E-414A-B961-A304F2C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The “more expressive than Transformer” claim should be tied to RWKV-7 dynamic state evolution.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544DB-2426-4AF9-AD6B-6D9EA3FB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A54E7-851D-4876-A593-CCC1F096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61EDC-6369-40C1-8AE7-B2FE6965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95986-6FE1-4DD7-9E8E-1CD0048A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AC571-F61C-4B90-9A14-3E902E90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Fixed-depth Transformer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5A0AD-34F2-4500-8537-A3835CD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Attention is excellent for parallel matching, but fixed-depth Transformers face theoretical limits on some state-tracking and formal-language tasks.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1F0F5-DF2E-471C-B10B-77CBB700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E51B4-83C5-4C3C-8DBD-6A43FD73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RWKV-7 dynamic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D95D5-1582-45EC-8894-1320AEAB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765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Input-dependent state transition matrices let each step update internal memory through recurrent computation.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F8A1F-F1E8-4209-9695-327AB4C7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CAD98-5EC9-4921-A524-59C1F9B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Paradigm 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74A08-28C6-4EE2-91A3-472AA05A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2400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The paper supports stronger state expressivity in specific theoretical settings. It does not imply every benchmark is automatically better.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E45CB-E470-41E9-BB02-72669B6B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171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C5EFC-D6E3-4199-A5B5-0CCB5603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24350" y="3114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7E852-793C-4E01-8002-467BBF99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1718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0D063-8DDA-4C29-A289-CC0E03FC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96250" y="3114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FCA5F2-7246-4AEF-9F2A-A15BE3C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CE7F9-62F5-4E06-A058-32EDEA5B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Recommended wording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3F99F-F11A-46A0-9BBB-2DA0F3F6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RWKV-7 provides formal evidence for stronger dynamic state tracking than fixed-depth Transformers in certain formal-language settings.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8BBD3-266A-4CFD-A0ED-42F007F1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958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10578-4ED1-4E1C-807A-55125A1B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Do not overclaim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B78263-CF98-4804-83BF-1F7C28D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Do not say RWKV naturally beats Transformer on all tasks. Converted GLM/DeepSeek models still need benchmark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F00BF-44AD-4E13-933E-7A37F51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245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Basis: RWKV-7 “Goose” with Expressive Dynamic State Evolution [3].</a:t>
            </a:r>
          </a:p>
        </p:txBody>
      </p:sp>
    </p:spTree>
    <p:extLst>
      <p:ext uri="{BB962C8B-B14F-4D97-AF65-F5344CB8AC3E}">
        <p14:creationId xmlns:p14="http://schemas.microsoft.com/office/powerpoint/2010/main" val="3811079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E126FB-4DE0-404E-A06E-6FE574B4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4D056-6DE2-4B29-96D1-0C9B3B42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B4543-2B63-4735-8F10-B0CDE686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METHOD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AF09B-6E5B-4D5D-848C-52BD68AE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RADLADS is full-size architecture migration; GAD is behavior distillation.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639ED-95CA-4EAD-A6E1-086056CB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2E961-5FE5-4BDB-9472-A1A660C9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8017E-D960-496E-908B-D974DE2B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0B2C9-470D-4820-A2D9-D68AB7DA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3320B-D2FF-4594-BEB9-782A7A78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C3D71-D7C6-4036-A6F9-147CF4BB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C8F0F-C553-499E-81F4-2C868895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it does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FF724-06E4-4974-B559-86220954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8D413-3ACF-4BD9-AD04-DB3A5BDD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1285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Needs weights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B6FE2-A306-450E-9F03-B3188669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A0197-FFE0-4511-9AB7-1A3B9652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859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Full-size conversion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3F4C2-2D77-450F-8847-ED95531A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BE925-41F6-4D05-972B-542C99AF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85950"/>
            <a:ext cx="2238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Best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64280-DBCF-447D-B2B9-3E72F2FB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925DA-8351-4C66-B863-26B7BA0A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Main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DE86A-205B-4149-91EA-647D746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89F0B-8E04-4CA1-AD3C-BA991820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RADLADS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78459-A3EA-4A2E-AE1C-4AA294FB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43B0A-2A37-4305-8455-2F699686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574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Replaces attention with RWKV/linear mixer; aligns hidden states and logits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C8109-467B-4FB3-B276-C48F8B1D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C4A1A-1C53-4FF2-B0BB-E6B43B63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537B4-57ED-4EC8-81EF-7F6F4A34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1FD613-53B9-4275-B488-7AB3AE9B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574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Yes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0D8B7-25FB-4564-84DA-EDB2BCB5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5848E-076D-46A1-A256-11008788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Open-weight Transformer/MoE migration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D4E48-E092-46C8-9669-E7A0FBE1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73468-B0BD-4BE0-BEF4-8BED63BB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57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Memory, mapping, long-context regression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4FE88E-F532-4A89-953C-F598A9B3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669963-6240-46F7-9699-4758303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AD6392-C02B-4333-8A1C-80E5E5AE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D00842-ACDC-4CFF-B70B-8ABEA3A7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Black-box on-policy generation plus discriminator/reward distillation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D5F38D-EB0E-49FF-83A2-C6809248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DBAC31-6380-429E-B81E-E4E7F73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A77D61-29D8-41F1-95B1-C9B04A81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9C58CF-A202-4224-A71A-7568F0EF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289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544ECD-36D0-4770-9777-CFECA595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954F6D-BB4D-4CDF-ABDF-BF1D75A3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289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Post-align or train smaller RWKV students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18B4F7-8FDA-4C7E-9DDD-842A535B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C1B975-2D91-4D1B-9C89-D2294FF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Behavior clone without internal parity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213806-CDF3-4FEC-B196-69B26DC7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148E8B-DB29-4549-B42F-C0439D89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SFT / SeqKD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7BFF16-41F9-4CC5-896E-4F16020B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2ECF23-BB3C-4C3D-8144-A51266F6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Supervised learning on teacher outputs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82C998-38E2-4B02-9DD1-4C95866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0D5720-1250-4718-A970-334DE915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128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A706F5-9BAF-4DEF-8027-F5E48C9C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4746AF-9FCA-4BC1-BC8F-9D4F5B10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004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CEE026-21ED-4D96-9936-F79841F7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C9A9F6-B7FA-4AA3-A0BE-A1AFB915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045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Format, style, cheap warmup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3BEE41-18E3-4C8C-B0EC-8340246F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242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CBABFF-5F9D-4A90-9819-EF9868F5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Surface imitation; weaker for agents/tools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7D993E-AB39-4232-9862-B58858A0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800B23-CA83-4904-BBDC-BE21A35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DC72FF5-0DB5-4ECE-87F7-A2CCC3AE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Why RADLADS first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F68EF5-AF62-40E4-B031-1B6FAF7B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 and DeepSeek V4 are open weight, so weights, hidden states and logits are accessible.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05B8B9-4326-4971-A9A9-EFEE7886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2952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14DCE7-19A4-41F6-8327-D9979994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86300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Why GAD still matters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0E06B6-621D-4E60-804E-D8A1A6BE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53000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Conversion may lose instruction, coding-agent and tool-use style. GAD repairs behavior.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40DFBC-6579-4769-8002-71845C8B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842EB2-CD2F-4187-A75D-3B65F484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Boundary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C806CF-7D84-40B2-AC6A-F792F5DE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53000"/>
            <a:ext cx="2228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GAD can train 7B/14B/30B RWKV students, but that is not full-size paradigm migration.</a:t>
            </a:r>
          </a:p>
        </p:txBody>
      </p:sp>
    </p:spTree>
    <p:extLst>
      <p:ext uri="{BB962C8B-B14F-4D97-AF65-F5344CB8AC3E}">
        <p14:creationId xmlns:p14="http://schemas.microsoft.com/office/powerpoint/2010/main" val="17225625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78833-8519-43BE-9FFC-59ED01AE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16F4C-75A1-4423-B223-8D52DE19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83614-D780-4DF5-8F71-33E0B14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FULL-SIZE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C1096-B48B-4EA5-8B29-4AE2DA3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Full-size RWKV migration does not shrink the model; the win is serving state and scheduling.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7AC26-2DFA-4E86-BE37-1275A29A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E8D83-BD76-4060-8188-646B8C10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59CB9-8F8C-46F7-8B19-61FD52C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9D723-282F-4B32-B9BB-D3CDAB9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525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B4E63-619E-404B-A85E-3DAF6BC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903E3-D71C-4CCA-966E-5D0E015A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14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BC943-2D03-44D6-AEC7-BF039F38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90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Original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25209-B994-4727-8713-3CBFC8D5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14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6F8A0-1A19-4FD8-87DA-C25D1787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790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Expected RWKV 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37202-436D-4656-814C-74F36E5B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14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7DB3F-6DEC-4A53-9A04-7387C08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790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Size delta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AAF05-0A6A-45E5-B6C8-8791EAF1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14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9BB0E-43B9-4BB1-8953-43546EEC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907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0A120-9F1C-4FDF-9A36-FF74DB05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91966-5680-4FA1-A89C-A0F1A612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143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OpenMOSE GLM-4.7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DA08B-807A-498F-8077-8970CDA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06873-A30D-457E-9DBE-0F9E1D4C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31.221B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08615-35C7-4C67-BBEB-C16C0AD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91A7E-F5BF-4229-81A6-3523F943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431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30.315B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AEC3B-9E7F-4FD8-A7F3-5B0B01E2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A7E46-BFAD-4327-A6A2-F288FBB1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431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-2.9% actual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7B6ADF-B22E-4ADC-A71D-C975B222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676DC-16B0-4C2F-8558-7CB08344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43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attention -&gt; RWKV-7/TICA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7007E-C7B2-4D4E-A9C2-4871FDC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921444-2EC7-4D10-BE36-AD4CBD3A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143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CCCF2D-9728-40F2-9FF2-51326971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282628-D489-4E19-9530-281FF312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956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753.864B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35503-331F-49FD-90E8-BB04740E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E69960-36D7-41A3-9E6C-0E2B6495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95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~730B-760B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E5449C-29AB-4851-A0C8-9AFF875D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FC68C8-3F8E-4530-83EE-804995C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95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usually +/-5%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9A28F7-0575-4D6F-93E3-CDE1A55B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194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4954F1-43B2-4AC4-8658-1DDD80B8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95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DSA/attention -&gt; RWKV mixer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5A6CDA-E40F-4894-AD24-87B2A4C6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8FF065-4C5F-4464-B7AD-9659D780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2143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Flash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F3EE1D-B7AB-4B27-A698-7DF0F30A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E02A2F-ADA3-4CB1-AC69-C5A56143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448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284B/292B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6F87D7-2B4D-4301-BCD3-DA6F9466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9D6ECC-FFD6-4C3B-89EC-9B70B511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448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~280B-295B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FCAE9C-10A8-4F02-942F-C0135A99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B85C44-CB8B-49D6-BAB8-9135BA52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48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usually +/-5%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8FEE47-AB8E-4C7D-81A4-69F4AD6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718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DAF2CA-801F-40A1-A9C3-5CBE290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480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CSA/HCA -&gt; RWKV mixer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2307E4-CA9E-4686-95DD-0BC69C99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FBD8A2-9850-4504-8CA5-8BE15246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143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Pro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3D8BCD-EAEC-48B4-823B-480F8D1F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044D58-6367-4AAE-A2F9-36C96CF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000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1.6008T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229995-3903-49EC-814A-0F8AFE35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A729E3-170F-455A-9F95-99FD4DA0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00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~1.55T-1.62T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9D6D43-B21E-4B09-800D-307CBAA6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32668E-C2C2-4EC2-A14E-77F8F774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00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usually +/-5%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0BC18A-9AB6-4F46-9247-97B7D5AC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924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4A0C14-2340-403F-BEC1-277FBB0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005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flagship full-size project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C0DB86-BF16-45DD-A657-FFA389BF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D41B92-9517-483C-AEAC-381EA91B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CD1EE7-1CDE-4252-9F63-5CDC26B5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413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Economic logic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AD5AFB-D3CE-4A90-BDA5-E4214AF1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413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Do not expect 754B or 1.6T to become small. The goal is to remove long-context KV-cache growth per request.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C10713-2627-46BE-A3D6-AB30AB2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339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32A1E9-CD51-43B2-889D-CEE1BD02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482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Research logic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2C37BB-A4CC-446F-9AC5-11C265A7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1495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Preserve MoE/MLP/embedding/tokenizer while avoiding full RWKV pretraining from scratch.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3998BA-0F37-4EAB-80C5-525CE2B0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Source: OpenMOSE model card and prior safetensors parameter checks.</a:t>
            </a:r>
          </a:p>
        </p:txBody>
      </p:sp>
    </p:spTree>
    <p:extLst>
      <p:ext uri="{BB962C8B-B14F-4D97-AF65-F5344CB8AC3E}">
        <p14:creationId xmlns:p14="http://schemas.microsoft.com/office/powerpoint/2010/main" val="19391465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46EE8-4699-47B1-B238-7842C7FA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215B9-D1FE-4AF8-8734-5B6A4ADB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E805E-FF82-441B-AC94-9AD7903E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MODEL INVENTORY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30DE5-44DE-4637-8B8A-53CEFF84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The inventory says: DeepSeek Flash is the engineering start; GLM-5.1 is the economic target.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92A4B-AB58-4689-96EF-CCBFE581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BE386-55EA-48A8-8CE7-4F683AD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F765D-9961-4B22-9D20-E2A69AB7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5D1CF-E950-456D-A6C2-8BC568FC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26011-BA7C-4F5A-A37A-9E82BD5A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EBBAA-3AA5-4423-A330-4AC43405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7E26C-4148-40DD-B13C-C1A49ED9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3355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Open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2EF3E-DBA9-441A-B7D6-A2869107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9EDEE-417D-49B0-A083-BF9BBA05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335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HF/card 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3FF85-C169-4BE6-A902-A1EA5F84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3B834-B5BD-4E06-8F66-FB643278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3355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5C5C9-55A5-4B75-8055-EFF29946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E7952-B4BA-4CA5-BB04-0EF42E72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33550"/>
            <a:ext cx="714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40BFC-8150-4BBC-A822-2126710B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91D04-DA15-4528-89F1-8FC57BA1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73355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Architecture facts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0A6C78-C0F1-4A2E-820D-DD48B5AE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2E9FC-E601-496F-A69A-0A6AFE27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RADLADS feasibility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008B2-C1B0-40C0-9895-0D4E250F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E3376-097C-4792-97DD-0D5F8A83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OpenMOSE RWKV-GLM-4.7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9FB2A-90A5-4579-8DD5-7CEA41B7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EE68A7-01E8-4A34-9EA3-6D8C668F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669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38D4A-50D3-46F9-A4F4-5090162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9B4B1-09AC-4237-B89A-B663B6C8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30.315B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A1EC0-FC62-45EE-A261-25D51EB9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00E28-D643-44AE-8B29-AE2A188D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669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A3B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ADDB5A-3361-453E-BF86-AE681AB2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AE4BA0-5191-493A-9D42-EA325E8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202K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E4881-8259-461D-99BF-95AD268F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6FFC33-6B08-4218-B122-3D45361C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669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47 RWKV-7 layers, 20 TICA layers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3EF9B-0866-41D6-809C-530FE5F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71FE1E-4EAD-411D-861C-7B280C00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alpha reference exists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3E0390-681B-43D4-B65A-698C8AAC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C437F-CCF5-4A00-B279-9A8EDCB5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DD1231-9AC8-424E-86A6-30F2F97E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B0ECD5-0D9C-409E-B136-190CC16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003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open / MIT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B6E742-CD4A-4DD3-B998-1D324506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4BD0DD-AA8C-487E-9D93-0D3BB2D6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753.864B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910564-5BC2-4F7E-9DDE-37432F9F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DB9121-641A-4167-87E8-57AB86F2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not stated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2154E7-5569-4B34-AE47-54E9CB32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582333-9982-4C5B-B7B1-C2881B9B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0035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200K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E78F8B-49EE-48C5-9704-76286ADC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049B83-0CA7-4B59-AC45-B7AFAFD1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003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78 layers, hidden 6144, 256 experts, top-8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1F0B98-812F-4750-ADA1-0C3F5978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9A29D0-704B-4C44-B9EB-8A6698CB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feasible, high risk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A6A1B6-1605-4E6A-9C76-6CB4FA73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999284-EADA-4BAD-ADFA-F06F3782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Flash Base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A845A8-82F6-4F8A-B505-44B3F49E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BC4ED2-C07B-4AA7-AC2C-68D3CEE6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337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open / MIT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326146-90EF-494B-AB49-45A42100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B8E9B7-DD3E-4AF5-9B5B-AE029A3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292B/card 284B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60CA5F-CCBA-4EAD-8BDC-F9CAAF3F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ADC084-02D0-444A-9A82-BA18B340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13B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989057-DB9F-41A0-AE04-66D7F2F7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659E6E-4E52-442C-BFE1-8F6467F7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0375C8-5726-4CD6-B72F-0A1D3518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28BA14-02A4-4A91-A6A6-821C0A56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337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43 layers, hidden 4096, 256 experts, top-6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B96A0C-1FF6-4700-A00D-294A7069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575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0247C7-6FFD-48AD-99C3-D12E1F0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337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best first target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1AF44A-42E1-405B-8D0C-2B2B74FD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90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AF1A58-BF88-49D4-83DA-A4E5932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Pro Base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B7D4A7-0EE8-46FE-8538-266676DE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22E28C0-58E0-40A1-A120-B8F4FEA4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67150"/>
            <a:ext cx="838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open / MIT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4DB86E4-6C32-4182-8277-8300CEE9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D8B2AA-64B9-48A1-A6BA-50BADF9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71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1.6008T/card 1.6T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D6603B-F7A9-4328-8253-0D6CF091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3467BA-E88E-4FDD-937E-376D6CE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67150"/>
            <a:ext cx="87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49B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9FB4EFF-DBFF-4C0C-901B-C9B46273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868187-F663-4537-8040-058B63CD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67150"/>
            <a:ext cx="71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1M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F509EE-B770-4D59-BC2B-693F356B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6377FB-BEF6-44C4-A11D-40B16782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671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61 layers, hidden 7168, 384 experts, top-6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D61866B-E043-44AF-8068-BBC45D2A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11B124-DAC8-4435-92C0-89A4A830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7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later flagship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6152C6-6931-4FCF-909D-E514E5A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0C2C25-7535-4584-BFC2-39E57AC9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ABB6E3D-F8B4-4EE6-AB87-9C6B1D1E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Technical first step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67AB6E-28DB-4E40-9057-CE9CFF73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2895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Benchmark OpenMOSE with identical prompts, tokenizer, decoding, quality, long context, VRAM and throughput.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AB565E9-EF7D-419A-BB19-E4E13C58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3185B4-E6F5-4E9D-B95C-6AF108E2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673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First full-size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DEBE5F0-2317-4D2A-BD82-8D0A083E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34000"/>
            <a:ext cx="2895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Flash has smaller active compute and 1M context, making it the best service-economics test.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043A0A-7F2C-4144-AD84-236FC83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F054AAD-3F49-4743-A589-016579F3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Second full-size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69C6410-8E8E-464F-B438-1AECA700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34000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 has larger economic upside if quality survives the migration.</a:t>
            </a:r>
          </a:p>
        </p:txBody>
      </p:sp>
    </p:spTree>
    <p:extLst>
      <p:ext uri="{BB962C8B-B14F-4D97-AF65-F5344CB8AC3E}">
        <p14:creationId xmlns:p14="http://schemas.microsoft.com/office/powerpoint/2010/main" val="7938661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4B132D-889E-41B2-914E-E226B634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BDA66-64E2-4612-B28C-3E85551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3597B-BB03-44C1-A69E-FC0E3AB5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RADLADS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0195E-BB42-4359-849E-DD51DB78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RADLADS replaces attention first, then pulls the student back with hidden states and logits.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C60BD-1DFC-4D53-87FD-8E8FC93C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F7597-01C4-41B2-BDBF-147868BA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B0222-7BBE-426E-9660-EF1E14BD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54B7AD-1B6D-441C-8CB4-DAA1B3B5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EBC17-EFF4-4962-B5FB-20E11901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84FA3-F4FB-4A40-B56D-756A8151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Copy teacher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719D-32A1-4D31-9D76-0D3F54C8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Keep embedding / MLP / MoE / tokenizer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5DBDB-7660-453B-A4FB-B2355142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30289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1"/>
          </a:solidFill>
          <a:ln xmlns:a="http://schemas.openxmlformats.org/drawingml/2006/main" w="0">
            <a:solidFill>
              <a:srgbClr val="AEB7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C54F8-2088-4F77-BB2F-8960BD10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574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EB7C1"/>
          </a:solidFill>
          <a:ln xmlns:a="http://schemas.openxmlformats.org/drawingml/2006/main" w="0">
            <a:solidFill>
              <a:srgbClr val="AEB7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66561-E66D-495D-9456-46CCFF91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63EFF-7A89-4674-9524-A2761624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228662-2BCC-4C7F-AAEA-6A4220EA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Hidden-state align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5AA8F-6FCA-463C-B4CC-612B9FC6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512 tokens, ~100M tokens, MSE/L2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7DC34-0E70-47CB-B8E4-11482BE7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30289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D26E1F-935E-4B46-BC3C-96B5D37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9053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35C8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472BFE-6CF1-4690-92AF-AEA9BE15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19AED-7941-4058-86A4-98844C1F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A72DE-5EF9-4CBE-B5B4-401D88B9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574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KL logits distill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A68DF-C890-4044-81B5-BC82690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512 tokens, ~250M-700M tokens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94927-BC4D-4057-B9DF-8EA29F70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0289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E4293-3FA6-4520-A047-290F1157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532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50D18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955CC-0C01-4C2F-BBAE-E8F98F6A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18A2C-DA13-4872-AA92-C46D614A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F7A1E5-8A2F-47D1-8B30-ED8A192C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Long-context recovery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8C6886-6C2B-4DB6-A542-41D82AC7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16K CE or 4K KL alternative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3367A-F897-466E-80C3-7C48CA8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30289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D751E-D944-469B-85BA-38F8164A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01175" y="2971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A64400-E6A1-46ED-92F3-469F03F1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47900"/>
            <a:ext cx="1809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D6141-ADB0-4C3E-A6E9-94D55A81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323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C1B92D-8CA8-4769-B4DC-9D632ACB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GAD/SFT align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3F36E5-658D-449E-B229-AB00576E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99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instruction / coding-agent / tool traces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BA6B8-9A40-44FF-9AB2-C0D983F2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96EA3F-9A89-4F09-BA74-D2EC439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Why cheaper than pretraining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E11BDB-0A7E-4CE2-B607-56BDE9BB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The new sequence mixer learns to mimic teacher attention outputs and logits while knowledge remains mostly in MLP/MoE paths.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04E190-3C0D-4D19-9F01-5F3A65E9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053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01DB4D-AE84-42BF-9849-B2773DAE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Why still hard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8CC7A1-7F20-4BC7-90D1-E9172B6F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3752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GLM/DeepSeek are MoE long-context models; routing, normalization, positional logic and teacher-student memory can break the run.</a:t>
            </a:r>
          </a:p>
        </p:txBody>
      </p:sp>
    </p:spTree>
    <p:extLst>
      <p:ext uri="{BB962C8B-B14F-4D97-AF65-F5344CB8AC3E}">
        <p14:creationId xmlns:p14="http://schemas.microsoft.com/office/powerpoint/2010/main" val="18444570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34042B-8C1B-483B-8A8C-8A7F608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A17EC-DD49-450A-B6D5-C620D1BB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193EE-C2E4-4E83-A11C-E3E84CC2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CONVERSION 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74D-3B9F-4859-9C8E-C34C2A28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The conversion-budget risk is not one GPU-hour number; it is failed runs and long-context debugging.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2522F-C7C4-438F-B251-9733A185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75457-142D-4908-B69D-FC9976AF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1AF8E-5BC6-4B86-87EF-96343DE4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E3601-60AC-437D-8ABB-830D5E71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10239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8132D-1225-4A1C-8888-836F8645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729CE-FCBF-4712-9548-E4F13F8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D63D7-3E72-4D38-B4D2-D3D277E8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716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Hardware assumption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80C0A-A754-4B13-BB78-CFF72B8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E3FFF-C1E6-4068-A5BA-78EDD7E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1190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Wall clock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A0BAA-5E6A-49E8-827E-9669F000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28CD6-61BB-4B59-B8CA-F43C8581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716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GPU-hours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3F730-00B8-4766-9526-FCF613AD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F5F44-6F78-4584-9759-1D71C200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716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compute-only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1C639-1BBE-4E60-8C6F-FB53B6B1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95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028E0-5D0C-4ACD-8281-5F71AD0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771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budget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A4FF9-2604-4556-94D6-11355192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ED2A0-EAFB-47DD-8BB0-82D41B8D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Flash -&gt; RWKV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9B050-B393-4165-A30B-04C1B7DA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0C9CB-3845-475A-B2FB-FA0A3A3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32-64 H100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07005-CAA1-4F56-AE90-01C558E2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71750-CBBB-4FB0-88B5-1F9A3397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2-5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130616-E23D-4C9B-8F2D-3B3E10B5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77DD6-A209-4263-BC75-3164D33E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43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1,536-7,680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862F2-FFA4-492E-AED9-EEBB3A2C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85179-6A2A-43F8-A186-96739CEB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43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$6K-$47K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AAA064-57DF-4CA7-B818-50A6499B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66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67224B-6A6D-4759-A199-7AE2CB0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43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$50K-$150K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244CAF-8835-4D3C-9472-59116F11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A2302-FAA0-4C24-88C4-9F75078D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GLM-5.1 -&gt; RWKV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E670DE-4F76-4485-88F9-38C949D7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846ABB-B883-4215-B7C5-C2CC55B6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146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128-256 H100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37D343-0182-4658-9955-C19AB83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16F0F-827C-4D99-AD54-6C37BAAB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4-10 days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4A10C4-BAFC-4329-9C65-2A65A51D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EF2E65-AFA7-4327-953D-A68E308F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12,288-61,440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DD05D4-7513-490E-8F37-066365FD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938E2F-DDA3-44F3-865C-3138D6A6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146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$49K-$378K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62BF5-9448-4798-AC6E-29E5A7D0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384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A64A5E-0E22-490D-9336-C6A46CA3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146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$250K-$1M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482828-0554-4DA9-A775-D03DFE4C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099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8ABC21-9BFE-4002-B815-D89050AB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Pro -&gt; RWKV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EBC3C1-D32D-4424-8AEC-BE28BAF2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85E265-678D-47E6-801D-AF48A13F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861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256-512 H100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BF4AF8-3BD7-435E-BB62-C1051253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9DE59B-348F-4E2C-80F8-BBEF39D4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7-21 days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52390D-8A6E-4EE4-88DB-9C843F80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225725-7C18-4410-A3C5-C360DA71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86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43,008-258,048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516877-191D-48DB-8D9E-D9BF94CA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4C5D2E-3238-498F-AA4F-77E91D4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861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$172K-$1.59M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357E7A-FA54-4154-A1CC-A3EDFB6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09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2AFA68-69A4-4B56-9A60-EBC4A16C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86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$1M-$4M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EFF227-B3A2-496C-857B-A840288A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814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E5201E-C0EA-4AC6-B727-894B43B8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0C3B4F-9C44-43C1-BE4C-3C20AD7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Estimate anchor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1FA0AF-2540-4B32-A012-60CB2C7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RADLADS published 7B/32B/72B dense conversion anchors; these ranges expand for MoE scale and retries.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6E9A56-C274-4188-A2D7-C11CCFC7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362175-E257-4078-B684-48C0C842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910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Why wide ranges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540756-BDEE-4C4F-9C33-086CC30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577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Published numbers are not 284B/754B/1.6T MoE conversions. Real cost depends on mapping and stability.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BD9A33-1291-4AC0-A70C-DC79D7FB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863948-6C93-4C02-8251-5240828D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9105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Budget scope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368933-8D06-474A-A04B-5863017F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compute-only excludes engineering, evaluation, data, failed runs and serving-kernel work.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55AC8E-CF04-41CD-9599-275C1773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H100 planning range: $3.99-$6.16 per GPU-hour.</a:t>
            </a:r>
          </a:p>
        </p:txBody>
      </p:sp>
    </p:spTree>
    <p:extLst>
      <p:ext uri="{BB962C8B-B14F-4D97-AF65-F5344CB8AC3E}">
        <p14:creationId xmlns:p14="http://schemas.microsoft.com/office/powerpoint/2010/main" val="16181658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4FF97-9764-4815-BC32-BF11D048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E86CF-018E-4B51-835F-DF79CDA0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0D8DB-2A8C-4F69-92BF-7ED7EE78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DEEPSEEK KV CAVEAT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BC2BC-9177-4CD1-9DC6-FE4CB8BF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DeepSeek V4 already has a small KV cache, so RWKV savings must be recalculated by concurrency.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B6137-104D-4753-8828-CE5F53BA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FD4D5-7449-4633-9F61-73EFD7A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7BC4B-BF29-49F1-8DBE-2575ACBA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06C43-086C-4A16-9E34-615DF1BE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91226-B4BA-474D-B1A0-8ADA5E00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88CC-8198-4DC8-A0DE-D9409D0B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18D34-2C90-4869-8800-C9CB012E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28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DeepSeek V4 Flash/Pro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7DCFE-67C9-406A-ABA6-60DFF819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3E4A5-710A-4187-961A-2325F2D3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28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After RWKV migration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8CB79-FDDC-4E27-9013-4808A830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EC3D0-7C51-4841-82BE-2D55ACB1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288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E32CD-E211-42AA-9F5D-8B4C6D83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E88B4-F401-44A3-A174-86F6990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Single request, short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A3FDA-494D-4A02-9786-C0089B98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05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60583-4AEB-41F5-BCFF-AAC5ADF5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KV pressure is already 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33175-DDCD-4796-8075-4C2DEA34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05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91610-8B5E-4F7F-9495-1486575A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Limited savings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13667-11B9-42AC-9267-D683E4D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E2164-260A-41C0-AB93-08EA2CDB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Active compute, weights and MoE routing still dominate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63DA6-403A-40EB-9AA4-36DD8882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FFF9F-6CC6-47F7-9259-E00F2132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1M long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923C3B-62E5-45F2-AD61-C693EB69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E4F3F-F303-456E-8836-6E2700AB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337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KV is a small fraction of a common GQA-8 baseline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7DAC2-EA7F-4591-8DEA-F4B2524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D3F49-63DF-4336-B764-A33EF4F3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33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State is closer to fixed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21123A-BA72-4A86-8194-3D6C4B1C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8B3B2E-B37C-4801-B9B5-A6639062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3370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already removed part of the Transformer pain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C959B5-5D5F-4DF5-A317-8B9D72C5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F6AEA7-8CCF-4E03-A4C8-4F14CF3B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500+ concurrent long sessions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5D1B82-EE50-4AD1-B532-63A27542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9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9C8522-9F43-4EB6-B1F0-D0D6876B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86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Even small KV multiplies by users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B406BC-B8E6-41FF-85C4-E2BEE241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09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8A171C-09E4-4C4B-8A7B-D5E351E2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86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State scales with concurrency but not context length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F17B5-4BF9-452F-B1C3-503C974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09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0CD2D8-F6E2-49F8-80A6-EA8DB548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8615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Main source of DeepSeek -&gt; RWKV savings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894A4E-8F7D-42DE-AE6F-CA5ED6C8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7E5277-C2B5-4754-A8A6-5FBAD676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85DC62-203F-4563-98A2-236423D2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09E7D6-DCC8-4702-B63B-CB0C5A10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7200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919BE1-CB90-45B0-A56D-9A14E2FA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00B89E-CD84-4A7A-B3F2-3FAEEC43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6E1D5F-996D-46FC-9797-F3F7D1A1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1285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low: 5%-15%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102FF6-EDB6-4014-BF04-0FE28E92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9582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moderate: 10%-30%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463EB0-6E8F-4E09-91B0-09F4B115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95825"/>
            <a:ext cx="2266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high decode: 30%-65%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C0771C-DA9A-4FDE-A17A-B0474A33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95825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long-lived high concurrency: 45%-75%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B06EE9-E7D2-4D46-96DC-C4B19860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4B479B-D160-4811-B741-F5F4E201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DC51BB-A4FF-4052-B6D3-0CCD4E74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29250"/>
            <a:ext cx="394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655B9B-1A58-42A5-9F90-AD3F720F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9595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V4 -&gt; RWKV is not a 10x cost-reduction story; a high-concurrency 2x-4x target is more realistic.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82980F-D270-4F41-B788-C7CBB608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C7703A-1593-48CD-B5FA-E0ECFC79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Contrast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BE9676-7CE5-4524-B251-9B4EC060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95950"/>
            <a:ext cx="3752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 lacks DeepSeek V4's extreme KV compression, so RWKV savings can be closer to 3x-6x.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D980FE-A606-4A13-8675-A755FA92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103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Basis: DeepSeek V4 report/model card; engineering estimate, not a provider quote.</a:t>
            </a:r>
          </a:p>
        </p:txBody>
      </p:sp>
    </p:spTree>
    <p:extLst>
      <p:ext uri="{BB962C8B-B14F-4D97-AF65-F5344CB8AC3E}">
        <p14:creationId xmlns:p14="http://schemas.microsoft.com/office/powerpoint/2010/main" val="1707517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548B1F-462C-4957-BE0A-AF4778C2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E1C81-81E0-44C8-8E5F-65A1DFAF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ABD4F-67B6-4A8B-A0D0-22DEF96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HIGH CONCURRENCY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783FC-5824-45D9-B4F4-BF21EDBE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RWKV's serving advantage is not single-stream speed; it is aggregate decode at high batch.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37A75-62A8-45E1-9C51-F9376576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42B1D-B7CA-4F63-9FBE-929752E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084D8-A4CA-489A-A72F-22F7BF1F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FD197-C462-4B1C-9072-6C193B6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06FBF-0697-4264-99DF-C002ED9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C0B75-ADFC-4103-893F-76608942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22B2B-4ED4-4A61-8CB7-3C7B7093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71650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5F771-3331-4382-AE60-92FE66B9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03945-555F-4F3A-A2AE-68FC3333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771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496B9-E8CE-41C2-AC51-6AC347EF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096F7-49F6-407D-84A1-4378D770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7716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Aggregate speed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7D39E-638C-4857-8E4F-C9689ADC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228D1-97FE-47F1-AA79-89150082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716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BA5D9-40FC-4AD0-8DC1-D11EC38E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34DCB-F0FD-493C-8D9F-4A5B2E4B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716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Hardware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C2557-2F13-4A9E-B19B-9D7E9D8E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954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92A46-D647-405B-AA82-BBBB70C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71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vs batch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C29637-2EA4-403D-9717-C1677688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DC1BA-EF20-4A4E-B993-84076612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RWKV-7 7.2B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A9F3A-DA55-40D0-AFC9-33CA8E94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76BD9-66E8-4CC4-AF74-44A753BA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fp16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148A0-FFB1-4B9A-89FD-35D1415A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AAB32-D220-4240-9E5D-3492B831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669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3396AB-FE12-42C1-98BB-D9310D5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FC8B5-A830-4149-8608-B016A3BC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669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145+ tok/s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6CAC9-D5E5-4AA2-BFE3-B46E9E2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7D29BA-B466-4A44-B0E8-1AD37E5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669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Decode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B99276-9D0D-434E-B517-D12CEE6B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0757C8-41FC-46C2-8F65-F181A41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66950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RTX5090 single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29751-D7AC-4618-B3C8-F3D4354E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1D49E1-1262-478F-891A-BDB20589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78E826-2EEC-45D6-8B5E-6B6F462C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EE672E-B898-4431-9E67-6D5F379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RWKV-7 7.2B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BC0C8E-0034-4795-91FF-4395BC1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5A7ECC-4F0D-42FA-BFA4-32239F36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fp16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CB5056-E0C7-4C7D-B31D-5E900E5B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01D3B7-26D1-4356-8533-E8959BD2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622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368E72-7030-4C9C-8CFF-CFD6EF6D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C88076-B0D3-4CAC-ACB2-2E25A1C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622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9650+ tok/s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22EABF-B46E-446C-8373-832CF55C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514662-C4C8-435D-8A46-AD71A2A8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Decode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2B9422-4B8B-44C1-9810-703BF35B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90B1E3-B20F-4866-B387-A500968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62250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RTX5090 single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D7392C-5899-4A77-8B68-9EAAB30F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D6BEB1-E4A1-4BF9-8843-2BA62A61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622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~66.6x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EBD96F-EA49-42C2-A710-99D1C15B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47130D-BE0D-475F-880E-C9DF92E2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RWKV-7 7.2B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8C137B-5120-4F88-9C09-A73AFC89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602CDF-C58D-4351-B6BE-D2991D1E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5755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fp16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5A3919-555F-4409-BAE9-8887B6F5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7C5081-4DB2-4856-B9E8-7B37F49F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575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960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BBBC2C-DEA1-444A-AA2F-AF9083B4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AB30F1-C7AE-4938-B10D-8385F784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575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10250+ tok/s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11721D-9A6B-4240-8C6C-C8619320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536B6D-7A8B-4597-9735-34168342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575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Decode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358D08-24F2-4604-A915-A85B4B18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F1EB20-AA0C-4935-9EF8-4890E397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57550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RTX5090 single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530EDD-E3B5-43A3-80AB-6ED23989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890DCE-93F4-4901-9160-08BCDFCD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~70.7x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36C376-F742-419F-A93D-D590B460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98BF0B-8B5A-4A70-AB35-AB083B0E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RWKV-7 7.2B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76BA5D-A796-42A2-92FE-27937531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DB8882-6D2B-4B95-90F1-8581D539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52850"/>
            <a:ext cx="809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fp16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0C1A71-9263-4BCF-8607-C852C864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0D9D29-23CE-465D-894D-762694F0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528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75B59CC-94C4-4119-8936-813F0579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B99018-EB9D-489B-A564-58C82266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7528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11289+ tok/s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28A718-B4D0-491C-93DF-56D64755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FCBF27-E78A-4F53-A81F-7A77E5EF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528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Prefill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105B93-E87A-472A-8A46-DCC06235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BC933EB-A53E-4DFA-B9CE-01A7FFFD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52850"/>
            <a:ext cx="1476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RTX5090 single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3035F8-6528-43EC-A74C-5BE591A2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7665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5417A52-B28E-4E28-B856-BC71632D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528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82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N/A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A7F865-6FED-4B1A-A4E3-8C624F60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E3A36A2-789B-465B-A658-962BA1B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batch 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98E379D-ACA5-46DA-A501-E34BE6BC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E50B0FE-4670-4EE9-9F9D-D0EFD14E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9701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138C114-CC67-4330-9B49-280941D3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243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145+ tok/s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F8FC55-C908-4938-B2B4-99194FA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batch 320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6F7465-140B-4DCB-ABF2-C6E415C1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EAC4912-F4AD-4328-9443-F14DB31E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645655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D1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8994F0D-C68B-4440-A490-6677A814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482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9650+ tok/s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F420A09-1103-48C0-983D-1929BD3A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batch 960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5DAB7A5-83C4-4FAA-9372-3EE665F6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744DCEB-7E24-413C-BD9A-55B4C98B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685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14D9FB4-F8D2-4E9F-B16A-D1D646DB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720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10250+ tok/s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E686C76-7023-4212-88FB-D0DC7EA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85CFB91-C228-4A69-B5B1-EAB304A3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91200"/>
            <a:ext cx="899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Use boundary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2EBE4AB-61BA-4489-B0EB-06533E0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57900"/>
            <a:ext cx="899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This is mechanism evidence, not a linear extrapolation from 7.2B to 284B/754B. Measure the target MoE directly.</a:t>
            </a:r>
          </a:p>
        </p:txBody>
      </p:sp>
    </p:spTree>
    <p:extLst>
      <p:ext uri="{BB962C8B-B14F-4D97-AF65-F5344CB8AC3E}">
        <p14:creationId xmlns:p14="http://schemas.microsoft.com/office/powerpoint/2010/main" val="8664460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7525F-B650-4288-8618-5A0745F2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01648-F97B-4696-B1FC-36A87C53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27BE2-33E6-497F-AC7C-ED3A278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COST REDUCTION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427A3-EB98-4BC5-8B71-92F5691F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High concurrency turns KV cache from a request-level issue into a fleet-sizing issue.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33EA5-A6F2-402E-A9B1-D55B463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BE764-279C-48E0-BD2E-3FB9E517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6571C-6323-4CAA-A1E0-6746C907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871FA-8CC5-4BBA-8D89-9B640CC4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90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2BC4E-6264-4F1A-B4BF-8799E174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2428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Workload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903DF-8C72-4CA7-8941-F06C58D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676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A686D-D033-4797-AF75-3FBB1EC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7526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DeepSeek V4 Flash -&gt; RWKV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29AB0-0387-40E3-830F-751AD7F3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D87C0-F0A8-4345-8116-E6B3BEF8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DeepSeek V4 Pro -&gt; RWKV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A926F-8A98-4E72-BD2D-ED47DCA8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76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5CBD1-51F4-49F7-A0D7-1A0278D8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5260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GLM-5.1 -&gt; RWKV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4BA68-3CC5-48B8-8761-07021BE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8DF26-0769-40F6-83A3-74820E34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52600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10B50-14EA-40CF-96D3-1CCD141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B3EA2-7D58-4C27-A738-50E7E478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Short chat / &lt;8K / low concurrency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DED23-2CC3-4DEA-A3EA-A97EA03C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5C162-CBB8-4860-99DF-32156B01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669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5%-15%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CD1C1-4D08-43A2-8A85-C5AAA372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BF6E6-8142-4548-AAC1-1262F6C9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5%-15%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44ABD5-7A60-4124-8D92-C7367BE1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40100-E297-4484-897C-AFEDA568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669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10%-20%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0B6018-7C1B-4B61-845B-331FB2D8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55C07-22F1-421A-88E1-F88C1A48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Not enough KV pressure; active compute dominates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8BAFD-15F5-427E-A214-2CF2961E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BA842-673D-409E-B37A-A233DAE2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Normal coding / 8K-32K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5BEB1-5B08-4223-8702-1FD9AE94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6F6C32-43CA-43E8-9AA7-16C80F0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813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10%-25%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C7C554-E43F-4F4D-8B01-67C8CAF1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2B6BFC-F3D1-4047-9103-78DAF02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10%-25%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D2BA78-FB88-4EF1-BADA-DABA1987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99B362-FCA7-4196-BCD9-1B088289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813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20%-40%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5A5A4D-7AF1-43E9-8FAA-B9A1E5F5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051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1C2213-6497-4FCC-9E79-1C324042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Some batching and cache benefit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89F98B-3CF6-424F-9CCF-247058AA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C1EC1A-834C-4D7B-9F5C-048EDF63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Agent service / 32K-128K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C8A37F-4F55-437B-9AD6-ECB4A014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81522E-4A67-4F91-8BCD-C0631643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956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30%-55%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224F6C-76AE-488F-AF81-C5F8BD5E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6334CF-2AB9-4E46-977C-B9B1456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25%-50%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0C658C-B5C0-404D-AFE8-A5E0A2E2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1F12C5-3F14-4BE1-B60E-7D923E5D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45%-70%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FB558A-1E2F-4A0F-8653-75BDC3E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A2F75A-6B9A-4B79-AE7F-3C2C510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Concurrent sessions amplify state cost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75C3A5-65C6-4099-86A3-E9521AE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03B149-3B37-4031-BC7C-5EA7C7D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Multi-agent fan-out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9EBEB5-3986-4E30-B387-EA8E0621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BFEBBC-0201-4149-8117-CC6E34FD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8100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40%-70%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7AD2D8-28B1-4152-B508-AE852D7E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E2B484-9D05-4316-9D43-8BFEBE8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35%-65%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9C69B0-8A8F-4B16-A3FF-EF09F7A7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5B8E69-BC30-43FD-BC0A-2DD92A3D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1000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55%-80%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61C85B-00E1-48F6-BF5C-2D77C93D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338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879930-8DBF-4C24-8FB8-042F5F96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100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Closest to RWKV high-batch benefit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574D00-9AF3-4E5A-8F62-28A3C12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C9BA0D-BF84-4315-82A0-9586DF0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Long-lived high-concurrency context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3A7D49-7289-401D-A65C-F35BD19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D95D2D-769B-48B3-BFE3-25D20A1E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243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50%-75%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AA3FF0-E453-4FDC-B7A3-36DB7097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6D9B53-98BA-421B-B55D-E2EFD15B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243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45%-70%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308828-E60B-4D1E-9A48-8A5ABA10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526E0F-94A3-4AA1-8BB3-D4259C5C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324350"/>
            <a:ext cx="1762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65%-85%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41D708-F0F3-4AFA-821C-715D8AC1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D8C53C-0C06-4F30-AD6D-949555AC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23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KV/cache multiplies by session count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713E38-8387-4529-87B7-50517F10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90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05D0DA-381A-4AE1-BC8E-57F9528D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5603AD-CFBB-4C86-9BEA-4CA32F3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721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DeepSeek 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20A758-D7AB-4968-99C5-CF2F1D4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3752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Because V4 already has small KV, the realistic target is not 10x; it is roughly 2x-4x at high concurrency.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B622E0-DAA0-4EDC-9843-C35042B3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05E6E40-AE47-4289-B61C-C971F0C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721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GLM read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1837579-4325-43C1-A1E0-EEFE643B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38800"/>
            <a:ext cx="3752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 is the stronger economic target: high-concurrency long-context savings can plausibly reach 3x-6x.</a:t>
            </a:r>
          </a:p>
        </p:txBody>
      </p:sp>
    </p:spTree>
    <p:extLst>
      <p:ext uri="{BB962C8B-B14F-4D97-AF65-F5344CB8AC3E}">
        <p14:creationId xmlns:p14="http://schemas.microsoft.com/office/powerpoint/2010/main" val="7070571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08E299-32C4-4197-9201-A52BC6B5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63182-E1EF-4C47-8E4B-DE3D22F6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D35EB-6560-4B92-8F9B-70E3AEF7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PRICE EQUIVALENT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B1A4C-0DF5-4CE0-AA47-A3BFFA3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If quality holds and high concurrency is saturated, self-hosted RWKV can lower API-equivalent price.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DAE42-D2DA-4394-B573-B569A7F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190D2-7825-4EC2-93B6-0A85A7B5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D12D-6CA1-4FA9-9149-3FDB2B5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AF1E6-FF06-419F-9F1D-388DBD56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1287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77455-BDE2-4970-ACFB-3D083543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4D554-F561-45D6-B283-3D9D6206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DFC03-030E-4593-86B9-B90E32A0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33550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Current public API 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C95F9-0A1E-4AB6-8302-0B968273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57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760DA-9A40-46B3-A3D5-58E375BE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335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Low/moderate RWKV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9CDB0-BC79-4FB8-BCBD-C723BE2A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57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3F055-CE29-4D5A-846A-5FC8C836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335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High-concurrency RWKV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E640B-5F80-4BE3-9332-4BD3CC3A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57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59581-79D3-4F16-BA5E-B2F7C87A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33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E04B5-450C-4D68-8B4A-1B99E75E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0980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B0C80-48E2-4FFA-8419-E2029609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Flash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9053E-B966-4DC1-93C5-4D50B3CF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83F57-0369-4ED3-ADBF-7F35F1E4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$0.14 in / $0.28 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80A15-277D-4099-BE37-E89FFAB5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FCBA0-9963-446E-A83A-5B3E8B84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86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$0.10-$0.13 / $0.20-$0.26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202ABA-4F86-4FCE-9655-F063D346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BCE30-FD15-4971-8461-C4BD152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$0.04-$0.10 / $0.06-$0.16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0A921C-781D-44A9-807E-39B391B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098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CCE519-421D-4B9C-8171-75A3E6C2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60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cache-hit input is hard to beat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0953DA-6EB3-46FE-BB47-C62042E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BBC72-9FA5-428C-BE30-D83CF8DE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38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Pro discounted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C71BB-644C-4EE5-949E-34D444C2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A1926-E111-4C34-BCD7-83E4BA5C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3845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$0.435 / $0.87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8F7AB6-6191-4107-A18A-6669EC17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62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998536-0E1A-4253-84ED-8FE95C92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384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$0.35-$0.43 / $0.65-$0.85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9B967D-6055-44CD-A467-557528B6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169EDC-A5D8-4F9C-B3D3-F31AF47E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384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$0.15-$0.35 / $0.25-$0.55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EA6E10-D624-4353-B889-D5758C3B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62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65A8F3-A6F4-4621-B1F7-B0BFE0B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384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needs high utilization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45672C-64E1-4478-A8BC-4E24500E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1470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7111B6-C28F-4161-AC85-36EFD752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0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Pro list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3BD219-D87A-4E0B-A8EC-3FB6C7E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14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B211D8-5F3E-4C8A-88C9-54151164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9090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$1.74 / $3.48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EBCA32-45D2-4503-9BF1-15E7CEEE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14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5C4F37-C570-4E35-9729-B04FB6E6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90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$1.20-$1.60 / $2.40-$3.20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792BB1-34FC-4480-B29D-8D948792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14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A55F4D-28B4-4295-B377-77220A74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909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$0.40-$1.00 / $0.60-$1.50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DCBB82-13BA-44A4-AAB6-B834EE92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14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4732E6-118F-4C22-9C76-DC0563D4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909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can beat list price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B6A6F9-E421-4DE7-9709-212A9CEB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6715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582FE1-706E-4D4C-9195-D47650D1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433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F6EB31-D324-4406-B23E-767872E6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67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1118F3-1894-4854-B979-FAD8F607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$1.40 / $4.40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218A4D-C3B7-438B-B7A4-710136D6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67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323C8C-2DC2-414D-B07D-53305040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433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$0.80-$1.10 / $2.20-$3.30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A98A92-FF75-41FC-9732-2AA1EA62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67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E5CDB8-3804-40DC-8A23-00E0F967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9433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$0.20-$0.70 / $0.60-$1.80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88448C-940E-41CF-A312-CB6F84FC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67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68AC52-F43B-44D5-B151-8446AA14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433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largest upside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03B216-F13D-49CC-BC86-D6BF0417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9600"/>
            <a:ext cx="11287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82FF5C-210B-458C-84FC-8A372FC3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4248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0F040D-E35C-46AC-B672-2B0C6716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Cost formula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2235F7-1F6E-4B79-9B85-AE2F832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self-hosted $/MTok = GPU-hour price / (aggregate tok/s * 3600 / 1M) + overhead.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EDCEDD1-5496-4A51-9626-ED9E629C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67300"/>
            <a:ext cx="4248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8018A7-C7F4-43EC-80FE-05B0FFCA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816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Critical assumption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5FE78C-052F-4730-980C-58F2C7A3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483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Not a provider quote. Assumes near-teacher quality and high batch occupancy in serving.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90F585-4713-4939-B35E-22011531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Unit: USD per million tokens, input/output. Recheck live pricing before investment or launch.</a:t>
            </a:r>
          </a:p>
        </p:txBody>
      </p:sp>
    </p:spTree>
    <p:extLst>
      <p:ext uri="{BB962C8B-B14F-4D97-AF65-F5344CB8AC3E}">
        <p14:creationId xmlns:p14="http://schemas.microsoft.com/office/powerpoint/2010/main" val="135112360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E83C3-20CF-4C24-81D3-531C946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C3C95-EE7E-4CD5-9140-5CF112F0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8ABA6-3ECC-44D8-A5B2-359ED070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TARGET PROS / CONS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890FD-BAE3-49B9-BFC2-A5C340D6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GLM-5.1 is the economic upside; DeepSeek V4 Flash is the engineering starting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0FA0B-241B-4732-942D-A4C42368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7035A-A92E-4CDD-BA58-7FC6DC42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3C1D5-2180-4A1D-9961-9937A3F8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6CFAB-ED08-4418-8A33-717D93B8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1076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A5D50-136C-4941-85EC-4965EF1B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BFA6F-95CF-484F-8697-D4F18961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764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A71CF-3920-4EA0-8394-060D18FA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52600"/>
            <a:ext cx="3000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A4B25-0566-4619-8A6B-11FCFE3F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6764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133D1-1D65-4733-9E94-3A9DB79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52600"/>
            <a:ext cx="3238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Cons / 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73FE1-87C8-42B9-8DAA-F3778A0D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6764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3C6A9-2698-42F4-AEA6-077C1E44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52600"/>
            <a:ext cx="2238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Best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93A06-074A-4A10-A479-B7FCA9F8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048F1-71EF-4FDC-BD17-74BC138D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Flash 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F17E5-F160-4C39-998A-4829E7A6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B7613-C871-4597-B7C1-0F9A2A7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19350"/>
            <a:ext cx="3000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284B/292B total, 13B active; 1M context; open weight; good first architecture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5A69D-49DC-44AB-9E8E-252AE07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49B7E-AA84-4D5A-AF2A-2138760E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193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V4 already has CSA/HCA and tiny KV; RWKV must beat a strong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A9EC1-1AEB-4113-A73A-24693736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41EC0-6051-4C66-96B4-F5CE7945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193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First serious RADLADS conversion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BA110-D9D1-40C0-A42A-6A3170C8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9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4C447-27D9-469C-AFDB-00ACE797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GLM-5.1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490480-9811-43D4-9C2F-A5E783E9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099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4DA02-2F65-457B-982D-FE4C1451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86100"/>
            <a:ext cx="3000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MIT open weight; coding/agent positioning; higher current API price, larger economic upside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1CC385-9E05-408F-930D-E6306076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099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479285-B7F8-4DC7-B7B3-D03A249A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861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754B total, top-8 MoE, 256 experts; infra and debugging cost are 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734D7E-736A-4FC6-8F35-56D73069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099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16ABB-8F03-414B-935E-8238D8E8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08610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Second full-size target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261D99-B916-4CE7-8C05-53EBB3A8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76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191FC9-6631-4E1B-8B20-A5B1673E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Pro Base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89611B-A4C9-4864-9F97-8438B5E5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766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CE12EE-D79D-4928-BAFE-871CEC3F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52850"/>
            <a:ext cx="3000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Highest-quality 1M-context target; 49B active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2EE652-BD57-4C56-BD57-482ED2F2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766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A29889-7BBD-4908-A0EF-45D8EBDE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528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1.6T total; teacher+student memory, storage and failure cost are severe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A9A606-1286-4B6E-BDFD-7EF87BA1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766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A7FD71-F3F1-42F5-96A9-6BB84BE4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752850"/>
            <a:ext cx="2238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4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Later flagship project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95B1AA-8FB5-4CF4-93BF-C76008B6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C6F3AC-9440-4905-91DD-26269958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4BFBE5-67D0-44E0-BD18-2040DC1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Why Flash first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CBD921-5DC4-430A-9610-9C951050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Not because it has the biggest savings, but because it is the cleanest DeepSeek V4 -&gt; RWKV engineering target.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5FBBBE-C6DD-4EB0-9DC9-835AC8AE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304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EC4733-4DDA-44F9-A181-2532EC78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57800"/>
            <a:ext cx="2705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Why GLM second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C7EB5E-4EA0-4C42-9341-9679E85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245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If OpenMOSE/Flash prove quality can hold, GLM-5.1 has the more attractive cost-reduction upside.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BA381E-0217-4297-8722-BF08A79F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43500"/>
            <a:ext cx="257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5D03A1-799C-4822-AE49-8051AD9A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578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Where Pro fits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B92D88-70F5-411D-99E1-FA74CA26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52450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Pro is the high-cost flagship validation after the migration path matures.</a:t>
            </a:r>
          </a:p>
        </p:txBody>
      </p:sp>
    </p:spTree>
    <p:extLst>
      <p:ext uri="{BB962C8B-B14F-4D97-AF65-F5344CB8AC3E}">
        <p14:creationId xmlns:p14="http://schemas.microsoft.com/office/powerpoint/2010/main" val="20938801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6B9EF4-B81A-49ED-B90D-56EE35D9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BE42F-6C45-455F-B680-C73FAAC3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AC5A8-900D-419C-8A94-E5C599C1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RISK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734DF-C62C-4EB9-B512-88409E91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A successful migration must pass quality, long-context, and serving gates, not only training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331AF-F14D-4F78-88E6-A91B9BD9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B2802-B77D-4D3D-9023-46F5F82F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83107-9588-4239-BB76-907AADC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B9F60-8C96-495A-8EB8-0EA2B3DD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19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AE753-0C96-43F7-8B29-D3B721ED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628B8-3C94-449E-BC87-009F3C87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619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BF54F-246A-4064-9C1D-B0D68459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95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Pass standard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1C097-05FF-4271-B73B-B4ACEE2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19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C64A9-A1B4-4458-BF78-F363ED5A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954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Failure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34578-2BAC-41BE-9CA0-4F776DDD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19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B073B-E21C-4ACC-909D-7803F996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E006A-1485-4FDC-89A9-E666B1F9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20C5F-0193-4F7E-9F92-9933E9FD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Quality parity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0D4CD-B6CD-4778-BF9D-4387C4D6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52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78A16-77AE-47FE-8505-EB464409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288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core eval &gt;=90%-95% of teacher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6A508-FD57-4735-B620-FA460239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52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AD260-7CF2-41B9-8DEB-FD6CD891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knowledge, reasoning or code drops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2B672-BC03-4157-BEB9-0835084E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0E15B-F944-42F4-B274-EB82F453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288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revisit KL/hidden targets and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CA0AC-BB29-43FB-BCCB-D642F0E9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ABCEC8-4634-47B9-96BB-1C29424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Long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C938B-FB2A-4818-9DFF-C3F59CED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6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1769BB-32BB-4940-9F2E-F6A60D8B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32K/128K/200K/1M stable by target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1730E-9427-4B2A-BFDF-1A397E74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D29A6-A2DB-40A9-810A-5EF27C75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622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NIAH/RULER unusable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F6FA61-08F5-43C9-9BA6-1E0FE343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282604-A4E1-46A3-9A18-FD0466F6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long-context KL/CE and state design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D5D72-6586-45B7-AD12-97E46E0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7887A6-A8A0-4688-82E6-94A79C6F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Serving gain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30721C-045C-4834-BDE9-D2B556BE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194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84ABBF-75CB-4F72-A747-7A7037AA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56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high-batch aggregate tok/s and VRAM beat teacher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E85192-A547-446B-9DD7-790EB3D6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194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419A16-AE6D-4C86-B1DA-2149D15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single-stream works; batch does not scale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2E5A88-3360-451D-9CA6-19A40F83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6055AD-D555-4C37-94ED-1BB8FF0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kernel/scheduler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F7BE6E-5DFD-4AE7-8B60-D0D8496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E05DBD-D43F-44EE-ADF7-2A0E09CA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Tools / agents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9073ED-1F36-4506-9AD7-3D550C1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52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B68863-9757-4617-AE86-085B8ADC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290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tool-call, repo-agent and SWE slices do not regress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005545-B254-414B-BC2B-8751B8AA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52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8AEE98-FC43-453E-85F7-225E0ED7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format drift, long chains fail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2E2EC2-FD3A-4444-9421-D32D3259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528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92A1FA-623A-41B1-AF0D-6F88C75A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290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GAD/SFT post-alignment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17ABCD-8D82-4363-A56E-272E28AE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226D36-A2AA-4ACF-B4E8-34D33455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Operability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DDDEAE-EBD6-40BD-A555-F601584E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67B4CD-0AB6-421F-BF28-3CE61EA2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624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checkpoint, quant, monitoring, rollback are practical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BD219D-64C6-44A0-8A89-6C20AFBB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7E1398-3BD7-43D4-8DB9-E1378CC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624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only runs in research script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EC06D3-91A7-41E8-8863-945FC551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32CE4A-D8DF-47D1-8BB4-840765CF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624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6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serve Flash first, not Pro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E39A8B-9AA2-4118-A88F-5DFD269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A04870-3F5C-42BC-8953-1633527F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9B305F-F22C-4E25-950B-7DB6B50F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Minimum launch gate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D60923-9717-4317-A313-FC1037BD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62600"/>
            <a:ext cx="3752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Quality parity, long-context validity and high-concurrency cost reduction all need evidence. Missing one means research prototype.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BB7BFA-C636-4602-A56F-0E086D5D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816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19E763-8648-4B3F-A01E-722D2E1E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959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Paradigm-migration gate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8589BC-8D0B-4381-9D68-286EE0D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62600"/>
            <a:ext cx="3752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The serving stack must turn KV-cache fleet pressure into recurrent-state fleet pressure.</a:t>
            </a:r>
          </a:p>
        </p:txBody>
      </p:sp>
    </p:spTree>
    <p:extLst>
      <p:ext uri="{BB962C8B-B14F-4D97-AF65-F5344CB8AC3E}">
        <p14:creationId xmlns:p14="http://schemas.microsoft.com/office/powerpoint/2010/main" val="3077542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63E68-6C3F-47D4-B0C9-90C61340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52FF2-6090-4EC2-BC31-758C77F5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BB35C-CEC2-47E7-B9C0-92FD95A5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EXECUTION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26F71-100A-4B43-BD51-BA1A3F85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Use OpenMOSE and DeepSeek Flash to remove unknowns before expanding to GLM-5.1 / Pro.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E8B3F-76F9-4FF7-810D-CC847576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56B6D-9960-46E5-B131-0A7D7598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E2E3A-D89A-415C-B882-054B4E19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90FC2-9F13-4635-B1F5-7CE99BF1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EE5CF-FF1A-4297-B366-ACFE038D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89CA8-87CB-463A-A9B9-2EFF8111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OpenMOSE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554EE-EFBF-4D48-BE15-92E3F486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&lt;$1K-$5K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EE55D-26BF-4F3B-8BE4-F097155B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same prompts / speed / VRAM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E323-3F97-45CE-8B0F-10321156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4211E-2294-40B8-9433-EF5ED6F0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4790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82AA8-A62C-4E79-851C-AC0F7FA0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BEAFE-705D-464C-B72B-4C87D93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EB1F6-2DCF-4B98-BCC9-8C8BF5C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Small RADLADS repro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E2378-8D18-4BF6-9970-775D2D84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$1K-$10K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96104-BE19-445E-8ED6-87BFC9DF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loss curves and script parity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0334B0-72C5-431C-ACD7-8B29BF48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25C8D-4499-4AAC-BE82-DD8CC2B3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3385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C2325-B0AB-4DA4-9F73-D19C9187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5C8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68F01-CF0E-4227-852B-D1A9BA02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4490D-AC71-4136-BB13-E0DBA8C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DeepSeek Flash 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389D6-D0DA-4CF1-BAC4-C567A05E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$10K-$30K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9A368-7FE2-4879-A0AF-EF33BB6D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forward/router/tokenizer parity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253B13-9A3B-405E-96D2-19F817EC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F4A67-861A-4CCF-8668-8365D41D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1980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81DDE9-5BF3-487D-A936-6E6C022B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25FED-4076-4A1C-B62E-C7C0A0F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575B5-E0AC-4974-BF88-473C9917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Flash full run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9D0D6-2A80-4FD7-A26B-FD0C265B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$50K-$150K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A1B7B-3E3C-4467-ABA8-C143ADA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&gt;=90%-95% quality + serving gain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51846D-AC9C-47FC-AB0B-FFD29F3B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2BBF16-3EA6-42EF-AA0A-A2025BC2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0575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25374-43FD-48BE-89A2-76566BE8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EBB363-E760-443B-8D9A-AA0A2678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2DA70E-311D-49A7-8ECE-1EA1491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GAD alignment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A8ECD9-F5C8-499C-BAA6-3922ED1C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$5K-$30K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BB7535-E686-4BC8-B5A6-E5578293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instruction/coding-agent repair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15EFA5-FC9A-49E5-8452-78471671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29527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5FC875-145C-4E56-B9D1-C457DAF5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91700" y="28956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4C197F-5520-4E21-BFDD-5EF50A1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154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67C23A-4F52-4FF6-8669-7572CB26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622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16F975-1DD0-4F5D-A48D-2BEA2A5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003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GLM-5.1 / Pro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3FAF43-1110-42A2-B93B-671578EB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9560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$250K-$4M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56C95D-BE71-4FEA-880B-D6C142B4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only after prior gates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D719A5-A24C-4D1A-8450-8C2CF0E5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EF6A5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1417F1-3DB9-4335-B972-9590D0A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EF6A5B"/>
                </a:solidFill>
                <a:latin typeface="Avenir Next"/>
                <a:ea typeface="Avenir Next"/>
                <a:cs typeface="Avenir Next"/>
              </a:rPr>
              <a:t>Phase-1 exit condition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E2B9A4-F588-4FC9-B33B-4F79D693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3752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If OpenMOSE misses 90%-95% quality or long-context stability, do not scale to GLM-5.1 yet.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6B1633-E73A-478E-A335-6FCE1D2C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A99A24-64DE-4972-A509-F09F8DD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76800"/>
            <a:ext cx="375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First commercial pilot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CA4E9E-C763-4CAB-A5A7-3AD0152A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43500"/>
            <a:ext cx="3752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Flash RWKV is the right high-concurrency agent/coding service pilot.</a:t>
            </a:r>
          </a:p>
        </p:txBody>
      </p:sp>
    </p:spTree>
    <p:extLst>
      <p:ext uri="{BB962C8B-B14F-4D97-AF65-F5344CB8AC3E}">
        <p14:creationId xmlns:p14="http://schemas.microsoft.com/office/powerpoint/2010/main" val="62419814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0D8F8-9717-4DE2-8AD6-A84F4EDC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1B953-6E0E-4B96-A0CF-19ADD305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4DE5A-1288-4910-869E-A625AC9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35C8D4"/>
                </a:solidFill>
                <a:latin typeface="Avenir Next"/>
                <a:ea typeface="Avenir Next"/>
                <a:cs typeface="Avenir Next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9EC30-D4D8-425C-927F-80370B80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6F2EA"/>
                </a:solidFill>
                <a:latin typeface="Avenir Next"/>
                <a:ea typeface="Avenir Next"/>
                <a:cs typeface="Avenir Next"/>
              </a:rPr>
              <a:t>Reference numbers separate official positioning, papers, model cards, and serving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2CB23-871B-406F-BAB7-B77C8534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B1F6D-202D-437E-9608-81C8E849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7F8D9A"/>
                </a:solidFill>
                <a:latin typeface="Avenir Next"/>
                <a:ea typeface="Avenir Next"/>
                <a:cs typeface="Avenir Next"/>
              </a:rPr>
              <a:t>rwkv.cn | arXiv and model-card based estimates | 2026-05-08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C5D80-40C9-43E4-A007-96C1F689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7F8D9A"/>
                </a:solidFill>
                <a:latin typeface="Avenir Next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2F038-7CD4-4620-B5F3-CAE314F5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91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B36"/>
          </a:solidFill>
          <a:ln xmlns:a="http://schemas.openxmlformats.org/drawingml/2006/main" w="9525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8D241-8E69-4F94-96B3-F5C423F9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4172F-59B8-47F5-90DE-59D68974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8B200-087B-4F18-91E6-1EE07573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81150"/>
            <a:ext cx="3524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10BCE-0FF3-45B6-8C39-D58A8DF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04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AB4ED-8282-451C-B727-7E009AA4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81150"/>
            <a:ext cx="519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56746-8651-4A60-9578-AAC224B8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504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7BF0C-4098-4E67-B4D5-1BEE981C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15811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Link /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6D9D2-C29B-4B06-BC5B-1287CD21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32033-65E6-45CD-BC32-30F8D38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99798-E52E-42E5-B480-F1B24CCA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85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BE73-BEA9-4DDD-83CB-5C3BD566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62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rwkv.cn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FDE74-4890-4781-A50B-4147413E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4FB2F-3218-49BD-BE9C-AB6E7E9D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62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official positioning: next architecture, no KV cache, high concurrency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08537-C0F1-475B-980A-3DF8FEF0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885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98565-2942-4EB0-A9E1-B2CF8519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1962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https://www.rwkv.cn/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A44D3D-EEB9-4DF3-A969-9816BB6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77470-B72A-47A4-A05D-E9FCE9FE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69756-3E69-4F57-890F-01FF409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66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53A6A8-7032-4392-B6D6-EAB469CE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43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RWKV: Reinventing RNNs for the Transformer Era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1A2AF-BD73-43E8-9992-DF5E542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66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FA186-5651-4CBA-91C9-03FF860F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43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 foundation paper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6A833-37C4-40EF-AB54-9FD3908E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266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B31942-780D-4513-BE28-56F92290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343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arXiv:2305.13048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C787D6-B5EE-49C2-A5D0-788BDAAF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3CDBC-2B8E-4A05-9A16-AF3D716B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[2]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BCF1B9-1B14-4501-B6D7-261D0811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7749D0-2D17-466C-8273-951DA397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Eagle and Finch: RWKV with Matrix-Valued States and Dynamic Recurrence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75549B-4C2F-443A-A69C-C4208D7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47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E778E4-5A07-4AD6-8195-CD43002F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matrix state and dynamic recurrence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56185C-AEDD-4769-8E18-5C56CD2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647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3CE730-876D-42BE-BCBF-2FE8B2D6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724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arXiv:2404.05892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B8D983-757A-4C1B-9EB5-9601F210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011E46-5C3D-4559-BA80-841F71ED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[3]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6C7F02-572C-4E26-A929-D2CA0CA9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32152B-C868-4E68-8BDC-7BC7CFEC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RWKV-7 “Goose” with Expressive Dynamic State Evolution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31D47D-3A63-4172-80C8-192D7A0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36D4DD-6684-4D14-B8E6-0925C8A0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05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expressivity and dynamic state evolution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6862F7-CEF8-4FB1-B71C-586454F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028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EF60B3-0D15-4BED-9A3A-0DB35E55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105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arXiv:2503.14456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9321C2-5FD0-4747-818D-D71DFF51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B0D7A0-8806-4F35-B477-960B3CB4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[4]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FE4D2E-BC95-4BDC-8F6D-1F3F4B9F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DBBE11-5F81-4882-B191-DCBF0A22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RADLADS: Rapid Attention Distillation to Linear Attention Decoders at Scale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81408C-A1B0-42ED-B4C0-2CC01689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56C469-D485-4499-95CA-5DD5CE2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full-size conversion method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ABDB38-C542-4905-BE2C-48B02BB9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409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870F2B-2D4C-4DAD-801A-BBE113C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486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arXiv:2505.03005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A35919-BD24-4389-AF49-1A29CD58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07F961-F882-4620-830B-0139F8C4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[5]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B56EB7-FDFF-4B01-983C-5298B162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08B2A1-6E91-4C35-81E4-A9C4D31B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GAD: Generalized Autoregressive Distillation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9094E2-2B93-4CE5-BE6D-2D173C63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600D8E-3D63-40E3-B65B-956E7C48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67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post-alignment / smaller student route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83EBA6-97B9-4F84-9E71-DB18AE15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790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2A3606-A000-43A9-8E32-68D51DD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867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arXiv:2511.10643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942BC6-DDBE-438C-B046-F3CF93BB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EE6ECA-E722-4029-B4BE-397B199C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[6]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558C5A-E73E-4913-A7F8-62C522E9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FD72FE-D1F9-49DE-830B-AC3F2EC1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OpenMOSE RWKV-GLM-4.7-Flash-exp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B5445C-2D4A-4E43-BD71-32C38B15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C27B6D-E9F6-4282-B12C-463A55A0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48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30B full-size RWKV reference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6EA8E1C-D84C-42E7-A257-C97B5645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71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9C209BF-FDF0-4509-A865-738DE164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248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Hugging Face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9E5ED8-6704-4DAC-AA2C-FE52C4E6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578C00-FD1D-4416-AFB6-009ABBD0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[7]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D3A7DE-6BE6-4269-9D57-B3D69A09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10FB064-2336-4C3E-A931-89E61645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DeepSeek V4 / GLM-5.1 model cards and reports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A40F00-2520-494C-B13E-1D4F7374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A43E8F-6744-4D20-A1DA-C245E8DF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29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size, context, KV/cache and price assumptions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814C1F-441B-4C28-BC11-A20A5139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552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26F647A-9B24-4677-8ACC-D984F031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629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HF / docs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7712B5-C68B-40AA-B197-32676741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52FD74E-DC6D-4104-BB98-E0749F04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[8]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3391FF6-2F7C-46AF-A065-35554783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479AED4-82BC-4D50-B073-23BB810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01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RWKV high-concurrency tutorial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5A9B2B-2DE8-4631-9AD7-5B449365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B114C2-16F4-4E90-8B0D-77AE57E3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10150"/>
            <a:ext cx="519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RTX5090 batch 1/320/960 anchor numbers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119411-5724-493F-8905-F388CD63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933950"/>
            <a:ext cx="9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6384AF1-E87C-4DC6-9EEF-F05C13B8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0101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mp.weixin local HTML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AE2C9B3-1F6A-4353-B32C-F5BF6942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2"/>
          </a:solidFill>
          <a:ln xmlns:a="http://schemas.openxmlformats.org/drawingml/2006/main" w="0">
            <a:solidFill>
              <a:srgbClr val="31435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967E2AD-BD46-4FA1-A1FF-4289C805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50D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E3B2CCD-7162-4342-B650-72250E9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899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50D18D"/>
                </a:solidFill>
                <a:latin typeface="Avenir Next"/>
                <a:ea typeface="Avenir Next"/>
                <a:cs typeface="Avenir Next"/>
              </a:rPr>
              <a:t>Final recommendation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2437E5A-0FDF-4C39-80EF-A7737843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48350"/>
            <a:ext cx="899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defRPr>
            </a:pPr>
            <a:r>
              <a:rPr sz="795" b="0">
                <a:solidFill>
                  <a:srgbClr val="DCE3EA"/>
                </a:solidFill>
                <a:latin typeface="Avenir Next"/>
                <a:ea typeface="Avenir Next"/>
                <a:cs typeface="Avenir Next"/>
              </a:rPr>
              <a:t>Treat RWKV migration as architecture-paradigm migration plus serving-economics validation: DeepSeek V4 Flash first, GLM-5.1 second, Pro later.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F8A01-89F7-4286-AD0F-A5309DD9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AEB7C1"/>
                </a:solidFill>
                <a:latin typeface="Avenir Next"/>
                <a:ea typeface="Avenir Next"/>
                <a:cs typeface="Avenir Next"/>
              </a:rPr>
              <a:t>Note: API pricing, model-card metadata and paper versions can change; recheck before investment or launch.</a:t>
            </a:r>
          </a:p>
        </p:txBody>
      </p:sp>
      <p:sp xmlns:a="http://schemas.openxmlformats.org/drawingml/2006/main">
        <p:nvSpPr>
          <p:cNvPr id="93" name="Rectangle 92"/>
          <p:cNvSpPr/>
          <p:nvPr/>
        </p:nvSpPr>
        <p:spPr>
          <a:xfrm>
            <a:off x="10439400" y="1422400"/>
            <a:ext cx="4572000" cy="533400"/>
          </a:xfrm>
          <a:prstGeom prst="rect">
            <a:avLst/>
          </a:prstGeom>
          <a:solidFill>
            <a:srgbClr val="17212B"/>
          </a:solidFill>
          <a:ln w="12700">
            <a:solidFill>
              <a:srgbClr val="35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4" name="TextBox 93"/>
          <p:cNvSpPr txBox="1"/>
          <p:nvPr/>
        </p:nvSpPr>
        <p:spPr>
          <a:xfrm>
            <a:off x="10642600" y="1549400"/>
            <a:ext cx="41656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30" b="0">
                <a:solidFill>
                  <a:srgbClr val="DCE3EA"/>
                </a:solidFill>
                <a:latin typeface="Avenir Next"/>
              </a:rPr>
              <a:t>[9] DPLR time-dimension parallelism: explicit DPLR transition, chunk-wise affine and CP/prefix-scan parallelism. zhiyuan1i.github.io/posts/dplr-mathematics/</a:t>
            </a:r>
          </a:p>
        </p:txBody>
      </p:sp>
    </p:spTree>
    <p:extLst>
      <p:ext uri="{BB962C8B-B14F-4D97-AF65-F5344CB8AC3E}">
        <p14:creationId xmlns:p14="http://schemas.microsoft.com/office/powerpoint/2010/main" val="570778922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6000" cy="127000"/>
          </a:xfrm>
          <a:prstGeom prst="rect">
            <a:avLst/>
          </a:prstGeom>
          <a:solidFill>
            <a:srgbClr val="35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6600" y="431800"/>
            <a:ext cx="45720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35C8D4"/>
                </a:solidFill>
                <a:latin typeface="Avenir Next"/>
              </a:rPr>
              <a:t>TIME-DIMENSION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600" y="825500"/>
            <a:ext cx="13462000" cy="965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6F2EA"/>
                </a:solidFill>
                <a:latin typeface="Avenir Next"/>
              </a:rPr>
              <a:t>High concurrency is not only batching: DPLR lets RWKV-7 parallelize along the time dimension.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6600" y="1841500"/>
            <a:ext cx="14782800" cy="12700"/>
          </a:xfrm>
          <a:prstGeom prst="rect">
            <a:avLst/>
          </a:prstGeom>
          <a:solidFill>
            <a:srgbClr val="314352"/>
          </a:solidFill>
          <a:ln>
            <a:solidFill>
              <a:srgbClr val="314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0600" y="2717800"/>
            <a:ext cx="3937000" cy="2717800"/>
          </a:xfrm>
          <a:prstGeom prst="rect">
            <a:avLst/>
          </a:prstGeom>
          <a:solidFill>
            <a:srgbClr val="1E2B36"/>
          </a:solidFill>
          <a:ln w="12700">
            <a:solidFill>
              <a:srgbClr val="314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5400" y="3022600"/>
            <a:ext cx="3175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6F2EA"/>
                </a:solidFill>
                <a:latin typeface="Avenir Next"/>
              </a:rPr>
              <a:t>Sequential recurrence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759200"/>
            <a:ext cx="3175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20" b="0">
                <a:solidFill>
                  <a:srgbClr val="DCE3EA"/>
                </a:solidFill>
                <a:latin typeface="Avenir Next"/>
              </a:rPr>
              <a:t>Token-by-token state update:
S_t = P_t S_{t-1} + k_t^T v_t
Low-latency decode remains sequential, but training / long-prefill is bottlenecked by time dependence.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5200" y="2717800"/>
            <a:ext cx="3937000" cy="2717800"/>
          </a:xfrm>
          <a:prstGeom prst="rect">
            <a:avLst/>
          </a:prstGeom>
          <a:solidFill>
            <a:srgbClr val="1E2B36"/>
          </a:solidFill>
          <a:ln w="12700">
            <a:solidFill>
              <a:srgbClr val="35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0" y="3022600"/>
            <a:ext cx="3175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6F2EA"/>
                </a:solidFill>
                <a:latin typeface="Avenir Next"/>
              </a:rPr>
              <a:t>Explicit DPLR transition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0" y="3759200"/>
            <a:ext cx="3175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20" b="0">
                <a:solidFill>
                  <a:srgbClr val="DCE3EA"/>
                </a:solidFill>
                <a:latin typeface="Avenir Next"/>
              </a:rPr>
              <a:t>P_t = diag(exp(g_t)) + b_t a_t^T
Diagonal decay controls dim-wise forgetting; low-rank terms add cross-dimensional coupling.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099800" y="2717800"/>
            <a:ext cx="3937000" cy="2717800"/>
          </a:xfrm>
          <a:prstGeom prst="rect">
            <a:avLst/>
          </a:prstGeom>
          <a:solidFill>
            <a:srgbClr val="1E2B36"/>
          </a:solidFill>
          <a:ln w="12700">
            <a:solidFill>
              <a:srgbClr val="50D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4600" y="3022600"/>
            <a:ext cx="31750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6F2EA"/>
                </a:solidFill>
                <a:latin typeface="Avenir Next"/>
              </a:rPr>
              <a:t>Chunk-wise affine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4600" y="3759200"/>
            <a:ext cx="3175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20" b="0">
                <a:solidFill>
                  <a:srgbClr val="DCE3EA"/>
                </a:solidFill>
                <a:latin typeface="Avenir Next"/>
              </a:rPr>
              <a:t>A chunk can be summarized as:
S' = M S + B
Chunk-level (M,B) pairs compose via prefix scan / CP parallelism.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0800" y="4089400"/>
            <a:ext cx="584200" cy="25400"/>
          </a:xfrm>
          <a:prstGeom prst="rect">
            <a:avLst/>
          </a:prstGeom>
          <a:solidFill>
            <a:srgbClr val="35C8D4"/>
          </a:solidFill>
          <a:ln>
            <a:solidFill>
              <a:srgbClr val="35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>
            <a:off x="5715000" y="4013200"/>
            <a:ext cx="177800" cy="177800"/>
          </a:xfrm>
          <a:prstGeom prst="rtTriangle">
            <a:avLst/>
          </a:prstGeom>
          <a:solidFill>
            <a:srgbClr val="35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85400" y="4089400"/>
            <a:ext cx="584200" cy="25400"/>
          </a:xfrm>
          <a:prstGeom prst="rect">
            <a:avLst/>
          </a:prstGeom>
          <a:solidFill>
            <a:srgbClr val="50D18D"/>
          </a:solidFill>
          <a:ln>
            <a:solidFill>
              <a:srgbClr val="50D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>
            <a:off x="10769600" y="4013200"/>
            <a:ext cx="177800" cy="177800"/>
          </a:xfrm>
          <a:prstGeom prst="rtTriangle">
            <a:avLst/>
          </a:prstGeom>
          <a:solidFill>
            <a:srgbClr val="50D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0600" y="6248400"/>
            <a:ext cx="4191000" cy="1168400"/>
          </a:xfrm>
          <a:prstGeom prst="rect">
            <a:avLst/>
          </a:prstGeom>
          <a:solidFill>
            <a:srgbClr val="17212B"/>
          </a:solidFill>
          <a:ln w="12700">
            <a:solidFill>
              <a:srgbClr val="50D1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3800" y="6400800"/>
            <a:ext cx="3784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0D18D"/>
                </a:solidFill>
                <a:latin typeface="Avenir Next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93800" y="6756400"/>
            <a:ext cx="3784600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DCE3EA"/>
                </a:solidFill>
                <a:latin typeface="Avenir Next"/>
              </a:rPr>
              <a:t>This reframes RWKV-7 long-sequence work from pure step-by-step recurrence into local chunk computation plus inter-chunk affine scan.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45200" y="6248400"/>
            <a:ext cx="4191000" cy="1168400"/>
          </a:xfrm>
          <a:prstGeom prst="rect">
            <a:avLst/>
          </a:prstGeom>
          <a:solidFill>
            <a:srgbClr val="17212B"/>
          </a:solidFill>
          <a:ln w="1270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0" y="6400800"/>
            <a:ext cx="3784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B84B"/>
                </a:solidFill>
                <a:latin typeface="Avenir Next"/>
              </a:rP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8400" y="6756400"/>
            <a:ext cx="3784600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DCE3EA"/>
                </a:solidFill>
                <a:latin typeface="Avenir Next"/>
              </a:rPr>
              <a:t>DPLR chunking adds intermediate tensors and HBM pressure. It is mainly a training / long-prefill parallelization route, not instant interactive decode speed.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99800" y="6248400"/>
            <a:ext cx="3937000" cy="1168400"/>
          </a:xfrm>
          <a:prstGeom prst="rect">
            <a:avLst/>
          </a:prstGeom>
          <a:solidFill>
            <a:srgbClr val="17212B"/>
          </a:solidFill>
          <a:ln w="12700">
            <a:solidFill>
              <a:srgbClr val="35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03000" y="6400800"/>
            <a:ext cx="35306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35C8D4"/>
                </a:solidFill>
                <a:latin typeface="Avenir Next"/>
              </a:rPr>
              <a:t>Cost-model 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03000" y="6756400"/>
            <a:ext cx="3530600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DCE3EA"/>
                </a:solidFill>
                <a:latin typeface="Avenir Next"/>
              </a:rPr>
              <a:t>Serving economics should separate three gains: high-batch decode, time-dimension prefill parallelism, and lower long-session state/KV memory.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600" y="7772400"/>
            <a:ext cx="13462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80" b="0">
                <a:solidFill>
                  <a:srgbClr val="AEB7C1"/>
                </a:solidFill>
                <a:latin typeface="Avenir Next"/>
              </a:rPr>
              <a:t>New reference [9]: Zhiyuan Li, DPLR Mathematics: Explicit Transition Matrix Parallel Computation, 2026-02-21, https://zhiyuan1i.github.io/posts/dplr-mathematics/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600" y="86868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50" b="0">
                <a:solidFill>
                  <a:srgbClr val="7F8D9A"/>
                </a:solidFill>
                <a:latin typeface="Avenir Next"/>
              </a:rPr>
              <a:t>rwkv.cn | arXiv, model-card and DPLR source based estimates | 2026-05-08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0" y="8661400"/>
            <a:ext cx="431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D9A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2026-05-08T07:25:57.6410000Z</dcterms:created>
  <dcterms:modified xsi:type="dcterms:W3CDTF">2026-05-08T07:25:57.6420000Z</dcterms:modified>
</coreProperties>
</file>