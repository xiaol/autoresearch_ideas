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13d41727b3d4608" Type="http://schemas.openxmlformats.org/officeDocument/2006/relationships/officeDocument" Target="ppt/presentation.xml"/><Relationship Id="R0905582030e247ca" Type="http://schemas.openxmlformats.org/package/2006/relationships/metadata/core-properties" Target="docProps/core.xml"/><Relationship Id="R10080b508d3245a1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e17d95a40d4151"/>
  </p:sldMasterIdLst>
  <p:notesMasterIdLst>
    <p:notesMasterId xmlns:r="http://schemas.openxmlformats.org/officeDocument/2006/relationships" r:id="Rf4fb75e6fbaa4aa9"/>
  </p:notesMasterIdLst>
  <p:sldIdLst>
    <p:sldId xmlns:r="http://schemas.openxmlformats.org/officeDocument/2006/relationships" id="256" r:id="Rac8d6bc2dc9646e0"/>
    <p:sldId xmlns:r="http://schemas.openxmlformats.org/officeDocument/2006/relationships" id="257" r:id="Re3beff86ec234e38"/>
    <p:sldId xmlns:r="http://schemas.openxmlformats.org/officeDocument/2006/relationships" id="258" r:id="R5848eadabf384256"/>
    <p:sldId xmlns:r="http://schemas.openxmlformats.org/officeDocument/2006/relationships" id="259" r:id="Rea1f35d4b8a34077"/>
    <p:sldId xmlns:r="http://schemas.openxmlformats.org/officeDocument/2006/relationships" id="260" r:id="Rff31e7f16afd43c3"/>
    <p:sldId xmlns:r="http://schemas.openxmlformats.org/officeDocument/2006/relationships" id="261" r:id="Rd36d219ebd864610"/>
    <p:sldId xmlns:r="http://schemas.openxmlformats.org/officeDocument/2006/relationships" id="262" r:id="Rece717d9ea01420d"/>
    <p:sldId xmlns:r="http://schemas.openxmlformats.org/officeDocument/2006/relationships" id="263" r:id="R4a6abcd4bdb84570"/>
    <p:sldId xmlns:r="http://schemas.openxmlformats.org/officeDocument/2006/relationships" id="264" r:id="Rc161ebcbe2c34a38"/>
    <p:sldId xmlns:r="http://schemas.openxmlformats.org/officeDocument/2006/relationships" id="265" r:id="R9fab5fdc75c64f51"/>
    <p:sldId xmlns:r="http://schemas.openxmlformats.org/officeDocument/2006/relationships" id="266" r:id="Re67fa268d1eb4239"/>
    <p:sldId xmlns:r="http://schemas.openxmlformats.org/officeDocument/2006/relationships" id="267" r:id="Rbedc1b6778af4b5b"/>
    <p:sldId xmlns:ns0="http://schemas.openxmlformats.org/officeDocument/2006/relationships" id="274" ns0:id="rId25"/>
    <p:sldId xmlns:r="http://schemas.openxmlformats.org/officeDocument/2006/relationships" id="268" r:id="R489019b85c074dab"/>
    <p:sldId xmlns:r="http://schemas.openxmlformats.org/officeDocument/2006/relationships" id="269" r:id="R12d44ca69db8435d"/>
    <p:sldId xmlns:r="http://schemas.openxmlformats.org/officeDocument/2006/relationships" id="270" r:id="Rf277ad4d3d164df2"/>
    <p:sldId xmlns:r="http://schemas.openxmlformats.org/officeDocument/2006/relationships" id="271" r:id="R39e1ba0018504e6e"/>
    <p:sldId xmlns:r="http://schemas.openxmlformats.org/officeDocument/2006/relationships" id="272" r:id="Refe2c9ad6de349b3"/>
    <p:sldId xmlns:r="http://schemas.openxmlformats.org/officeDocument/2006/relationships" id="273" r:id="R9d75920bc2bd413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0dffa78c63ea4799" Type="http://schemas.openxmlformats.org/officeDocument/2006/relationships/theme" Target="theme/theme1.xml"/><Relationship Id="R12d44ca69db8435d" Type="http://schemas.openxmlformats.org/officeDocument/2006/relationships/slide" Target="slides/slide15.xml"/><Relationship Id="R15e17d95a40d4151" Type="http://schemas.openxmlformats.org/officeDocument/2006/relationships/slideMaster" Target="slideMasters/slideMaster1.xml"/><Relationship Id="R1c821711a8ed43cb" Type="http://schemas.openxmlformats.org/officeDocument/2006/relationships/viewProps" Target="viewProps.xml"/><Relationship Id="R39e1ba0018504e6e" Type="http://schemas.openxmlformats.org/officeDocument/2006/relationships/slide" Target="slides/slide17.xml"/><Relationship Id="R489019b85c074dab" Type="http://schemas.openxmlformats.org/officeDocument/2006/relationships/slide" Target="slides/slide14.xml"/><Relationship Id="R4a6abcd4bdb84570" Type="http://schemas.openxmlformats.org/officeDocument/2006/relationships/slide" Target="slides/slide8.xml"/><Relationship Id="R5848eadabf384256" Type="http://schemas.openxmlformats.org/officeDocument/2006/relationships/slide" Target="slides/slide3.xml"/><Relationship Id="R5c3f3cc7b7ee4ff1" Type="http://schemas.openxmlformats.org/officeDocument/2006/relationships/presProps" Target="presProps.xml"/><Relationship Id="R9d75920bc2bd4137" Type="http://schemas.openxmlformats.org/officeDocument/2006/relationships/slide" Target="slides/slide19.xml"/><Relationship Id="R9fab5fdc75c64f51" Type="http://schemas.openxmlformats.org/officeDocument/2006/relationships/slide" Target="slides/slide10.xml"/><Relationship Id="Rac8d6bc2dc9646e0" Type="http://schemas.openxmlformats.org/officeDocument/2006/relationships/slide" Target="slides/slide1.xml"/><Relationship Id="Rbedc1b6778af4b5b" Type="http://schemas.openxmlformats.org/officeDocument/2006/relationships/slide" Target="slides/slide12.xml"/><Relationship Id="Rc161ebcbe2c34a38" Type="http://schemas.openxmlformats.org/officeDocument/2006/relationships/slide" Target="slides/slide9.xml"/><Relationship Id="Rd36d219ebd864610" Type="http://schemas.openxmlformats.org/officeDocument/2006/relationships/slide" Target="slides/slide6.xml"/><Relationship Id="Rd423a6ec72914254" Type="http://schemas.openxmlformats.org/officeDocument/2006/relationships/tableStyles" Target="tableStyles.xml"/><Relationship Id="Re3beff86ec234e38" Type="http://schemas.openxmlformats.org/officeDocument/2006/relationships/slide" Target="slides/slide2.xml"/><Relationship Id="Re67fa268d1eb4239" Type="http://schemas.openxmlformats.org/officeDocument/2006/relationships/slide" Target="slides/slide11.xml"/><Relationship Id="Rea1f35d4b8a34077" Type="http://schemas.openxmlformats.org/officeDocument/2006/relationships/slide" Target="slides/slide4.xml"/><Relationship Id="Rece717d9ea01420d" Type="http://schemas.openxmlformats.org/officeDocument/2006/relationships/slide" Target="slides/slide7.xml"/><Relationship Id="Refe2c9ad6de349b3" Type="http://schemas.openxmlformats.org/officeDocument/2006/relationships/slide" Target="slides/slide18.xml"/><Relationship Id="Rf277ad4d3d164df2" Type="http://schemas.openxmlformats.org/officeDocument/2006/relationships/slide" Target="slides/slide16.xml"/><Relationship Id="Rf4fb75e6fbaa4aa9" Type="http://schemas.openxmlformats.org/officeDocument/2006/relationships/notesMaster" Target="notesMasters/notesMaster1.xml"/><Relationship Id="Rff31e7f16afd43c3" Type="http://schemas.openxmlformats.org/officeDocument/2006/relationships/slide" Target="slides/slide5.xml"/><Relationship Id="rId25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b08cdb960e174e3a" Type="http://schemas.openxmlformats.org/officeDocument/2006/relationships/theme" Target="theme/theme2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de3411a28314ab4" Type="http://schemas.openxmlformats.org/officeDocument/2006/relationships/slide" Target="../slides/slide1.xml"/><Relationship Id="R914d9a04147141c6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2d4f0f796c23443a" Type="http://schemas.openxmlformats.org/officeDocument/2006/relationships/slide" Target="../slides/slide2.xml"/><Relationship Id="Rbe4ac29053764e8b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2d2c5e3288f645ef" Type="http://schemas.openxmlformats.org/officeDocument/2006/relationships/slide" Target="../slides/slide3.xml"/><Relationship Id="R6cea730cfcbd4dd3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6df3dea3b87b489b" Type="http://schemas.openxmlformats.org/officeDocument/2006/relationships/slide" Target="../slides/slide4.xml"/><Relationship Id="Rc384365611354d9e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84a219392c6d47a4" Type="http://schemas.openxmlformats.org/officeDocument/2006/relationships/slide" Target="../slides/slide5.xml"/><Relationship Id="Rb17bfd599ee04d0a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410d742b7cc74ad0" Type="http://schemas.openxmlformats.org/officeDocument/2006/relationships/notesMaster" Target="../notesMasters/notesMaster1.xml"/><Relationship Id="R46df45f695dc406f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0f4171e412ec4b0d" Type="http://schemas.openxmlformats.org/officeDocument/2006/relationships/notesMaster" Target="../notesMasters/notesMaster1.xml"/><Relationship Id="Rdaa81baf5bf64270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73cfe184223c4dd2" Type="http://schemas.openxmlformats.org/officeDocument/2006/relationships/slide" Target="../slides/slide8.xml"/><Relationship Id="Rbda8e9698e4e4a9b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3acf78d928e64e2d" Type="http://schemas.openxmlformats.org/officeDocument/2006/relationships/notesMaster" Target="../notesMasters/notesMaster1.xml"/><Relationship Id="Rfd3cd78792d5488a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1e83e86de21547e2" Type="http://schemas.openxmlformats.org/officeDocument/2006/relationships/slide" Target="../slides/slide10.xml"/><Relationship Id="R250977eb74754510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e05b992bd62848e3" Type="http://schemas.openxmlformats.org/officeDocument/2006/relationships/slide" Target="../slides/slide11.xml"/><Relationship Id="Re95a17f380694780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8f4e1de0a1fb4931" Type="http://schemas.openxmlformats.org/officeDocument/2006/relationships/slide" Target="../slides/slide12.xml"/><Relationship Id="Rdb4775469df642a9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0536871c9ced4611" Type="http://schemas.openxmlformats.org/officeDocument/2006/relationships/notesMaster" Target="../notesMasters/notesMaster1.xml"/><Relationship Id="R11d7115190624098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2a79ca31b0024880" Type="http://schemas.openxmlformats.org/officeDocument/2006/relationships/slide" Target="../slides/slide15.xml"/><Relationship Id="Rbbfd1d0d9fd240a7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838b6e55015d4b8a" Type="http://schemas.openxmlformats.org/officeDocument/2006/relationships/notesMaster" Target="../notesMasters/notesMaster1.xml"/><Relationship Id="R8d2721c51ea4461c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111ebca901004afd" Type="http://schemas.openxmlformats.org/officeDocument/2006/relationships/notesMaster" Target="../notesMasters/notesMaster1.xml"/><Relationship Id="Rc6d27b66972c4baa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ad454f943c7a4034" Type="http://schemas.openxmlformats.org/officeDocument/2006/relationships/slide" Target="../slides/slide18.xml"/><Relationship Id="Rf873d94ef8094c90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15f8a0c95fe74188" Type="http://schemas.openxmlformats.org/officeDocument/2006/relationships/slide" Target="../slides/slide19.xml"/><Relationship Id="R6886f6914c5247d7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 standalone='yes'?>
<Relationships xmlns="http://schemas.openxmlformats.org/package/2006/relationships"><Relationship Id="Re29e478075ab4ec3" Type="http://schemas.openxmlformats.org/officeDocument/2006/relationships/slideMaster" Target="../slideMasters/slideMaster1.xml"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86c92fb9ee44958" Type="http://schemas.openxmlformats.org/officeDocument/2006/relationships/theme" Target="../theme/theme1.xml"/><Relationship Id="R6f88391849d5416a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88391849d541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1f0fc89182e54638" Type="http://schemas.openxmlformats.org/officeDocument/2006/relationships/notesSlide" Target="../notesSlides/notesSlide1.xml"/><Relationship Id="Rfc5c572ee8ac4a1c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43588f85498c450a" Type="http://schemas.openxmlformats.org/officeDocument/2006/relationships/slideLayout" Target="../slideLayouts/slideLayout2.xml"/><Relationship Id="Re463b096d91b4a0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051d43f6059e44a5" Type="http://schemas.openxmlformats.org/officeDocument/2006/relationships/slideLayout" Target="../slideLayouts/slideLayout2.xml"/><Relationship Id="R81d429fefcca42ac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cec3c02b45c341ae" Type="http://schemas.openxmlformats.org/officeDocument/2006/relationships/notesSlide" Target="../notesSlides/notesSlide4.xml"/><Relationship Id="Rde5acf32602c49d0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2da94e5b570946e1" Type="http://schemas.openxmlformats.org/officeDocument/2006/relationships/slideLayout" Target="../slideLayouts/slideLayout2.xml"/><Relationship Id="R89960dcaa99444b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3ae7a1af3775404d" Type="http://schemas.openxmlformats.org/officeDocument/2006/relationships/notesSlide" Target="../notesSlides/notesSlide6.xml"/><Relationship Id="Rd912ac1d825341fa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314662d1985b47c3" Type="http://schemas.openxmlformats.org/officeDocument/2006/relationships/slideLayout" Target="../slideLayouts/slideLayout2.xml"/><Relationship Id="R8d91e62d04084f1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54b4e58baf154048" Type="http://schemas.openxmlformats.org/officeDocument/2006/relationships/slideLayout" Target="../slideLayouts/slideLayout2.xml"/><Relationship Id="R98fe2fd1919147de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a57dbb68db3746be" Type="http://schemas.openxmlformats.org/officeDocument/2006/relationships/slideLayout" Target="../slideLayouts/slideLayout2.xml"/><Relationship Id="Rba963a7558dc4ce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2d785697ef3945f5" Type="http://schemas.openxmlformats.org/officeDocument/2006/relationships/notesSlide" Target="../notesSlides/notesSlide10.xml"/><Relationship Id="R6abe41715db64e0b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5ef94cfbd8ae4af8" Type="http://schemas.openxmlformats.org/officeDocument/2006/relationships/slideLayout" Target="../slideLayouts/slideLayout2.xml"/><Relationship Id="Rdd2fb4bacc914e8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1c273cd190724937" Type="http://schemas.openxmlformats.org/officeDocument/2006/relationships/notesSlide" Target="../notesSlides/notesSlide12.xml"/><Relationship Id="R1f5fde6c5e894967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38bc2a0e28b04e66" Type="http://schemas.openxmlformats.org/officeDocument/2006/relationships/notesSlide" Target="../notesSlides/notesSlide13.xml"/><Relationship Id="Radf251b3b193442f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30c888dbb2f7452e" Type="http://schemas.openxmlformats.org/officeDocument/2006/relationships/slideLayout" Target="../slideLayouts/slideLayout2.xml"/><Relationship Id="Re758f94f7f2446d6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416705bb45ec473c" Type="http://schemas.openxmlformats.org/officeDocument/2006/relationships/slideLayout" Target="../slideLayouts/slideLayout2.xml"/><Relationship Id="R5fd2c7b541494370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4b56f2dfe4744032" Type="http://schemas.openxmlformats.org/officeDocument/2006/relationships/slideLayout" Target="../slideLayouts/slideLayout2.xml"/><Relationship Id="R7fca9cd9878a4d2e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1c49f741ad714954" Type="http://schemas.openxmlformats.org/officeDocument/2006/relationships/slideLayout" Target="../slideLayouts/slideLayout2.xml"/><Relationship Id="Rb0d4819aea204d7d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0026e94873324166" Type="http://schemas.openxmlformats.org/officeDocument/2006/relationships/notesSlide" Target="../notesSlides/notesSlide18.xml"/><Relationship Id="R9b386c2f1bcd44ae" Type="http://schemas.openxmlformats.org/officeDocument/2006/relationships/slideLayout" Target="../slideLayouts/slideLayout2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C6B6F3-3D7D-4420-9265-699F5995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DF6F1-74EF-4A4A-A851-7F1EBBA4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4174D-0E2F-4478-AEA2-67632DE4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RWKV 范式迁移评估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9EBBC-EAED-494E-A596-050B3661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7810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大模型迁移到 RWKV</a:t>
            </a:r>
          </a:p>
          <a:p xmlns:a="http://schemas.openxmlformats.org/drawingml/2006/main">
            <a:r>
              <a:t>范式迁移、成本模型与服务经济性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3E290-0C1F-4D9D-B936-9F3CB96C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不是一次 POC，而是从 Transformer 注意力/KV-cache 范式迁移到 recurrent state / high-concurrency serving 范式。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B1837-32CB-4851-9032-CAF8F509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04775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8167C-2E2B-4754-AAD3-33D1C914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478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rwkv.cn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A645A-1101-4BE1-9234-5651050B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76450"/>
            <a:ext cx="1866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EB7C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EB7C1"/>
                </a:solidFill>
                <a:latin typeface="PingFang SC"/>
                <a:ea typeface="PingFang SC"/>
                <a:cs typeface="PingFang SC"/>
              </a:rPr>
              <a:t>新一代大模型架构</a:t>
            </a:r>
          </a:p>
          <a:p xmlns:a="http://schemas.openxmlformats.org/drawingml/2006/main">
            <a:pPr algn="ctr">
              <a:defRPr sz="1125" b="0">
                <a:solidFill>
                  <a:srgbClr val="AEB7C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EB7C1"/>
                </a:solidFill>
                <a:latin typeface="PingFang SC"/>
                <a:ea typeface="PingFang SC"/>
                <a:cs typeface="PingFang SC"/>
              </a:rPr>
              <a:t>attention-free / 无 KV cache</a:t>
            </a:r>
          </a:p>
          <a:p xmlns:a="http://schemas.openxmlformats.org/drawingml/2006/main">
            <a:pPr algn="ctr">
              <a:defRPr sz="1125" b="0">
                <a:solidFill>
                  <a:srgbClr val="AEB7C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EB7C1"/>
                </a:solidFill>
                <a:latin typeface="PingFang SC"/>
                <a:ea typeface="PingFang SC"/>
                <a:cs typeface="PingFang SC"/>
              </a:rPr>
              <a:t>constant speed /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ED42B-B884-4674-80D5-8B8B1937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670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763C7-2282-4A39-9C3F-026B2322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0515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0D18D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50D18D"/>
                </a:solidFill>
                <a:latin typeface="PingFang SC"/>
                <a:ea typeface="PingFang SC"/>
                <a:cs typeface="PingFang SC"/>
              </a:rPr>
              <a:t>PARADIGM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3EFCD-8C74-452E-8274-BEBAACD1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C4D7B-86C4-4045-A3CE-DA9596BC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9110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35C8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BAF899-4E69-4A23-BFC6-D5481C4C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RADLADS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A63181-B856-4769-9D70-888DEEAA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主迁移路线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77B563-BCE5-44A5-BA08-38492475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EB7C1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AEB7C1"/>
                </a:solidFill>
                <a:latin typeface="PingFang SC"/>
                <a:ea typeface="PingFang SC"/>
                <a:cs typeface="PingFang SC"/>
              </a:rPr>
              <a:t>白盒 full-size 架构替换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A16F06-E87F-4DA3-8330-7CA8942B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9110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D18D"/>
          </a:solidFill>
          <a:ln xmlns:a="http://schemas.openxmlformats.org/drawingml/2006/main" w="0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80829D-7FFD-433B-A247-4A81EA90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9530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案例锚点 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8638EE-6087-4E9A-A6B6-1C51FC13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86375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低风险验证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9269CC-8D15-44C3-8702-C972AB48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4578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已优化 KV / 长上下文模型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F4F5D4-6E77-4D51-B738-9AB7BA82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9110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CF4B76-F677-4966-A209-8D6A3087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530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案例锚点 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705B6-F8E2-4F63-AF56-A624F679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86375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高收益验证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73508D-A78B-4FB5-8C45-0ECA11E8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578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高 KV 压力 / 高服务成本模型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56D8BF-F01F-4866-A689-69A9018E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9110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solidFill>
              <a:srgbClr val="EF6A5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92ABA5-F6BB-45FE-8A8B-7B362D6A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9530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2x-6x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EEAB34-B9F0-4564-9764-FF2CF48B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286375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高并发潜在降本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BF8DA8-582A-45C0-B6AF-53E6F2B3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578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EB7C1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AEB7C1"/>
                </a:solidFill>
                <a:latin typeface="PingFang SC"/>
                <a:ea typeface="PingFang SC"/>
                <a:cs typeface="PingFang SC"/>
              </a:rPr>
              <a:t>取决于 KV 压力与批占用率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931E92-DFDE-4DF5-9431-AB787187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rwkv.cn | arXiv and model-card based estimates | 2026-05-08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40B854-8458-4ECD-826C-EB5CB2EC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30949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48E2BA-A85E-48D3-8D26-B177C1A8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C9DBD-F002-4591-A609-C35B6B5A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26E3F-6FC2-4613-A82F-D3727813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CORE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8EA50-2891-4EE6-8D4D-92F583CB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结论先行：RWKV 迁移是一套面向 open-weight 大模型的通用架构迁移方案。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38736-A172-4085-A194-DB2A482B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143A2-5411-4365-9BD3-E23BB938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E6524-9B23-4C8F-BF0A-12A5B23F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32B32-2EB7-47CE-9183-3C52D407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78D62-B26E-4752-9112-DA3B9A55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BBA2F-0281-4F79-AD93-80BA155A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097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B996F-C0AE-4265-9983-CE5800B9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859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AD999-30FC-443C-851C-905C2400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097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CBEFE-87E4-466A-9F72-4994FD29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8859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原因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EB854-76E8-4DD3-8E50-163F3B19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21DAF-F721-4246-AA9A-A0667A79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859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置信度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E975C5-2F66-4965-BA0C-97DD52CB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5A890-69E8-480D-99E6-FD1C887F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主方法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ACBCE-99A4-4EFC-8AA8-0C1D48F4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241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19F31-49DF-41C4-9369-86FF4349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003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RADLADS full-size 白盒转换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8ECD1-430C-408D-AED8-A38E4B94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241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4DE9D7-2B24-4CD5-9AC6-A812FAF9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003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保留 tokenizer、MLP/MoE、专家知识路径，只替换序列混合器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BBF805-EDA7-4C7C-BD1D-CA2FF56A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25B16B-29CE-4C24-9A39-CEB58240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D26663-90C4-4BA6-9AA6-A940EEDF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99F4E0-3466-4992-B1D4-46E8DB78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案例锚点 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F94DE1-F42B-4288-B2BF-BCFB8AE2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384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2B6ED3-1D07-44EC-9028-E5519372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146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KV 已优化、active compute 较小的长上下文模型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A1457D-E09F-4811-8F50-430BC223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384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55375D-33EB-4BBE-9F8F-5FED9B0C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146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适合验证架构映射、训练稳定性与 serving kernel，不代表唯一优先级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F15E5F-1C9E-44CA-8245-E63A5EF2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384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F62B02-3B94-4B1D-88BB-5BE82394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146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384A73-9418-4652-A0DE-82442BC8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C111F1-A442-4C4D-BEF5-D2F5FB58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案例锚点 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FA0A47-19D1-4CE0-B457-44CE739A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52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03A4BB-9457-47F8-832B-A48E950B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290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KV/cache 压力更高或服务成本更高的模型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6E8000-CA0C-4588-851D-7C303DEC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52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5F8BE2-7E0B-4DDC-9848-068101B5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290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适合验证商业降本上限；需要在方法稳定后放大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8896F1-F10A-4D90-A8F3-05E4F0EC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52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82E90D-1216-4EAA-A8A2-76C70B7F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中低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24633F-1F3D-4015-8E19-90D3D8DD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D41BE5-9CB3-46A6-A648-E0CDDDB4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旗舰案例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3BEC5D-19F2-45EC-BA67-88497112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67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45B7BC-7605-4DFD-AC01-29E9E209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433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超大规模、高质量、长上下文模型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6A53C1-1EF0-4BB6-8F24-43C2D5F6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67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B4C5CD-13FB-417D-8C28-11BEF2BB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433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适合作为联合方案成熟后的旗舰验证，不建议作为首个样例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403C1A-BF7C-43C3-80B1-8E2367D7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67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E17346-2FA6-4CC6-A5F1-7B09C99A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43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低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06790D-8228-4355-AB04-E1E148ED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2EDA2F-169B-4EFC-A6DF-17CD9210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GAD 角色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E6D08F7-8BB2-4B50-902E-A523D091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815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040900E-A5B7-4DC6-A9E9-23376FC2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577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后对齐或小模型学生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DE3868-C81B-43D4-BF04-260FDD1D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815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067D155-7786-47B0-8CD0-15EE76A6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577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补 instruction/coding-agent 风格，不等于架构迁移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AB0D8C-DF30-4055-9174-799A5F00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815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E76C2A-8FE3-4342-AE0B-335DEA1D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577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中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A05A24D-7085-4651-A5B4-7A04C235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49E625-56FD-4E71-9978-67B05C83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4610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F4EDCF6-8836-4113-9D68-9B5E20D8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rPr>
              <a:t>一句话判断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9121486-87A7-4465-A045-BD89BFEA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426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RADLADS 提供 full-size 架构迁移路径；GAD/SFT 用于迁移后的行为对齐与合作方场景适配。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4B6A396-AC98-4E80-A9D7-ABF37A0D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19700"/>
            <a:ext cx="4610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167FAC8-8BB4-4C4C-B568-75F8FBD9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对外口径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8F6E69B-27EE-477A-99B0-C7B3950B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00700"/>
            <a:ext cx="426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GLM 与 DeepSeek 只是公开案例锚点；真实合作目标应按模型开放性、KV/cache 压力、服务负载和质量门槛选择。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737CC4F-F8D3-43BC-A6AA-C3C6B265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来源: RADLADS[4], GAD[5], 公开模型卡与服务价格文档。</a:t>
            </a:r>
          </a:p>
        </p:txBody>
      </p:sp>
    </p:spTree>
    <p:extLst>
      <p:ext uri="{BB962C8B-B14F-4D97-AF65-F5344CB8AC3E}">
        <p14:creationId xmlns:p14="http://schemas.microsoft.com/office/powerpoint/2010/main" val="17381182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3F91F4-9A9C-453D-9233-8F486752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CBF89-5E80-4AA8-AD75-DF070E1F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2C30C-D185-4DC9-8910-CDDCCDCD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RWKV.CN POSITIONING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C0195-9D4D-4C62-8F63-2F304258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rwkv.cn 给出的定位是架构范式，而不是实验性替代件。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89930-7E4A-4887-B32E-69B4FEE0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56D96-92CF-486D-804B-D08E864D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65B89-7503-43D0-AF2B-DFC67089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3A094-AED7-4CEC-A003-E27DB111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41910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155BD-55D4-4508-A179-7CD2135A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Transformer 服务范式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46B17-DBEB-42D2-8F78-83212564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31908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softmax attention</a:t>
            </a:r>
          </a:p>
          <a:p xmlns:a="http://schemas.openxmlformats.org/drawingml/2006/main">
            <a:pPr algn="l">
              <a:defRPr sz="127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KV cache 随上下文与并发增长</a:t>
            </a:r>
          </a:p>
          <a:p xmlns:a="http://schemas.openxmlformats.org/drawingml/2006/main">
            <a:pPr algn="l">
              <a:defRPr sz="127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prefill / decode 分离调度</a:t>
            </a:r>
          </a:p>
          <a:p xmlns:a="http://schemas.openxmlformats.org/drawingml/2006/main">
            <a:pPr algn="l">
              <a:defRPr sz="127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长会话下显存成为 fleet-sizing 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D9B4C-95DB-4326-9F54-BE5CC9D2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41910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DF144-5DD4-43B6-947C-DCFB4C04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RWKV recurrent-state 范式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924C00-FDBC-4DF4-B5E2-0D261851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3238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attention-free 方向</a:t>
            </a:r>
          </a:p>
          <a:p xmlns:a="http://schemas.openxmlformats.org/drawingml/2006/main">
            <a:pPr algn="l">
              <a:defRPr sz="127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无传统 KV cache</a:t>
            </a:r>
          </a:p>
          <a:p xmlns:a="http://schemas.openxmlformats.org/drawingml/2006/main">
            <a:pPr algn="l">
              <a:defRPr sz="127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状态随层数/hidden 固定</a:t>
            </a:r>
          </a:p>
          <a:p xmlns:a="http://schemas.openxmlformats.org/drawingml/2006/main">
            <a:pPr algn="l">
              <a:defRPr sz="127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高并发 batch 更容易保持显存平稳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5B79FC-71AA-4007-8079-324CC332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3219450"/>
            <a:ext cx="1962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35C8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D1243-10E3-4D74-A903-7144A1CF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91350" y="31623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35C8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4C4AF-5CCF-4A8C-AF77-DC1B06DE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194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4F20B-2571-489C-B4A3-FF61DD08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57500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范式迁移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0674CE-34EE-4A6D-AD31-739C8C02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323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00EA07-9C39-4877-AE86-5E2B5CD6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官网主张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27FFA1-F716-4874-B307-F9ABCD6A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rwkv.cn 使用“新一代大模型架构”“超越 Transformer”“无需 KV Cache”“超高并发”等表述。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3A13BD-239A-4762-A979-656965DE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323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114A22-747C-478F-AC0F-E5613434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673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工程含义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C8EDC4-481C-4F03-98A0-44B50CEF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3340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迁移收益来自服务形态变化，不来自把 754B/1.6T 压缩成小模型。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459C43-FE4E-4C4A-87F0-52057339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530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9B8EDB-2A9B-4F82-9668-CB69FB12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6730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rPr>
              <a:t>表达力含义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1324CE-3200-4609-842B-F137165C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34000"/>
            <a:ext cx="2514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RWKV-7 的动态状态演化为“更强表达”提供理论支撑，需按任务验证。</a:t>
            </a:r>
          </a:p>
        </p:txBody>
      </p:sp>
    </p:spTree>
    <p:extLst>
      <p:ext uri="{BB962C8B-B14F-4D97-AF65-F5344CB8AC3E}">
        <p14:creationId xmlns:p14="http://schemas.microsoft.com/office/powerpoint/2010/main" val="4562928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713803-E36B-4443-8F75-D5B5D571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37C35-6061-4CDE-9EC6-B7E1AB62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4F1CA-4CEF-4E8E-8B2F-4645F479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GROWING TIMELINE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02F11-39AB-4481-A16B-508E3AAA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RWKV 的增长路径已经从单模型架构，扩展到论文、引擎与迁移生态。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B16F4-6E09-4493-85E7-C51B0AF2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376E5-F3FC-444B-907C-0B448B4B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77EAD-B6FD-4E5E-8631-171A29A8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540C4-5154-4349-9039-995D088E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143E8-848F-44CD-8853-66D96D00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35C8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C26DE-1CB6-41B0-9230-54B921C8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2023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271426-7FA8-470A-944C-E499319B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38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RWKV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2614C-17A0-4119-B090-6A324E16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6004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EB7C1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AEB7C1"/>
                </a:solidFill>
                <a:latin typeface="PingFang SC"/>
                <a:ea typeface="PingFang SC"/>
                <a:cs typeface="PingFang SC"/>
              </a:rPr>
              <a:t>Reinventing RNNs for the Transformer Era [1]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22E90C-0467-4A5B-9579-356F8D4C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18D"/>
          </a:solidFill>
          <a:ln xmlns:a="http://schemas.openxmlformats.org/drawingml/2006/main" w="0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8F3D9-BD9C-4BD8-BEA2-C734F6BD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514600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D18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0D18D"/>
                </a:solidFill>
                <a:latin typeface="PingFang SC"/>
                <a:ea typeface="PingFang SC"/>
                <a:cs typeface="PingFang SC"/>
              </a:rPr>
              <a:t>2024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EF84BF-2529-41F5-8767-C1B5CD8F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38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Eagle / Finch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C5FCA1-7F28-4C81-A73A-DBBD7B33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6004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EB7C1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AEB7C1"/>
                </a:solidFill>
                <a:latin typeface="PingFang SC"/>
                <a:ea typeface="PingFang SC"/>
                <a:cs typeface="PingFang SC"/>
              </a:rPr>
              <a:t>矩阵状态与动态递归 [2]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A02FD7-B78C-49EF-BCD9-9AED0B0F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580607-882B-4F2A-8FE7-6F593D0E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14600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2025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4DE52-A7C2-4798-B946-D30CCCD7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38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RWKV-7 Goose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A6877-D972-4FD7-B79F-F1CE7145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004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EB7C1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AEB7C1"/>
                </a:solidFill>
                <a:latin typeface="PingFang SC"/>
                <a:ea typeface="PingFang SC"/>
                <a:cs typeface="PingFang SC"/>
              </a:rPr>
              <a:t>动态状态演化与表达力论证 [3]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B6554F-4247-4940-8642-5C00D6CA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solidFill>
              <a:srgbClr val="EF6A5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483E49-C532-431C-89FD-CBECC2AA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514600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2025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A26861-2F70-4F1D-8CB3-8F9D3AC8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38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RADLADS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E4516C-8F75-4AB5-A432-1C528D42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6004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EB7C1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AEB7C1"/>
                </a:solidFill>
                <a:latin typeface="PingFang SC"/>
                <a:ea typeface="PingFang SC"/>
                <a:cs typeface="PingFang SC"/>
              </a:rPr>
              <a:t>Transformer -&gt; RWKV/linear decoder 快速转换 [4]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838D18-2C1C-4C88-9955-49997DD9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A7FF"/>
          </a:solidFill>
          <a:ln xmlns:a="http://schemas.openxmlformats.org/drawingml/2006/main" w="0">
            <a:solidFill>
              <a:srgbClr val="72A7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ADE5BF-5149-4B8C-B425-51F67F2F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14600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2A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2A7FF"/>
                </a:solidFill>
                <a:latin typeface="PingFang SC"/>
                <a:ea typeface="PingFang SC"/>
                <a:cs typeface="PingFang SC"/>
              </a:rPr>
              <a:t>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2FEF51-1BC0-4A88-9DE2-359E7C1C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38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OpenMOSE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077BB2-0D75-4407-B455-7F3B5C9B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004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EB7C1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AEB7C1"/>
                </a:solidFill>
                <a:latin typeface="PingFang SC"/>
                <a:ea typeface="PingFang SC"/>
                <a:cs typeface="PingFang SC"/>
              </a:rPr>
              <a:t>RWKV-GLM-4.7-Flash full-size 参考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47DCA2-0060-4B9A-86EF-B3131EB7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C57FC5-080C-400D-95D6-3C806C57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rPr>
              <a:t>架构线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3D9CEB-69C1-4AE0-BA8D-F016FD01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280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从 RWKV 到 Eagle/Finch 再到 RWKV-7，核心是状态表达、动态递归和高效序列建模。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A89768-87FD-4F38-90D1-74582B99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5775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D94271-F201-44CF-BFB3-FD0ED0A5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9720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迁移线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7C2D00-F868-4F34-A696-C9262603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238750"/>
            <a:ext cx="280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RADLADS 与 OpenMOSE 让“把已有 Transformer/MoE 迁到 RWKV”变成可操作项目。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0504A4-9BDA-4157-9BC6-BFC29FCD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57750"/>
            <a:ext cx="285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AB71A9-DDF1-490B-A3C9-99632672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7205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服务线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602481-036C-4EE0-833F-AA0766B3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3875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Albatross / high-concurrency 工程把无 KV cache 的理论优势转成吞吐与显存优势。</a:t>
            </a:r>
          </a:p>
        </p:txBody>
      </p:sp>
    </p:spTree>
    <p:extLst>
      <p:ext uri="{BB962C8B-B14F-4D97-AF65-F5344CB8AC3E}">
        <p14:creationId xmlns:p14="http://schemas.microsoft.com/office/powerpoint/2010/main" val="11285876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539D52-F3D3-42F7-BC3F-1BA8314F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60548-2D4E-446C-9849-CEC3C67F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39E6D-5941-462F-8991-60F52210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EXPRESSIVITY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321CB-846E-4DFF-9942-D789C138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“RWKV 更有表达力”应落到 RWKV-7 的动态状态演化，而不是泛化成所有指标全胜。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7CF10-1A03-44C9-B2DB-F74B5864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84BAB-B5AA-4E60-A637-D855680A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2EAA0-7B2A-40DB-AD5B-DD4C5236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685E6-B308-4823-9063-BBB3AE64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8A872-BF89-4D59-8A5C-7C10629B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固定深度 Transformer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E5BF4-7E72-4AA6-8B16-80358E72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有限层 attention 适合并行匹配，但在某些状态跟踪、形式语言与递归更新任务上存在理论限制。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52BB9-ED26-4FCA-A2BF-33DD2A2C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764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83E1B-58D9-42E5-AFD0-A8CA688B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RWKV-7 动态状态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E8387-9C71-47BE-A95B-09B618AA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7655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输入相关的状态转移矩阵让每一步都能更新内部记忆，形成可迭代的 recurrent computation。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0FF0D-3920-478A-85E1-790B7C44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75F04-92F2-4145-8693-BFF8496A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431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范式判断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F43B67-D19E-42D4-8A32-A6239D72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76550"/>
            <a:ext cx="2305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论文支持的是“状态表达能力”强于固定深度 Transformer 的若干理论场景；生产质量仍需 benchmark 验证。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D06F67-3198-42BE-B97E-FFD72EBF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31718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35C8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AB1087-6352-4C76-8053-EED6012D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24350" y="31146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35C8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F515DD-DACF-4867-91EB-4126EC08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31718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D18D"/>
          </a:solidFill>
          <a:ln xmlns:a="http://schemas.openxmlformats.org/drawingml/2006/main" w="0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7DABCB-AB13-44FA-9CD6-A77AD2A1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96250" y="31146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0D18D"/>
          </a:solidFill>
          <a:ln xmlns:a="http://schemas.openxmlformats.org/drawingml/2006/main" w="0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4035AF-09E5-4D1B-961E-388EF152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9585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2A7056-5BDE-45CF-A32E-A94A8F87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rPr>
              <a:t>PPT 表述建议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17F1D9-9B8E-4EAB-9BC0-75DC0962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76850"/>
            <a:ext cx="3752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可以说: RWKV-7 从形式语言/状态跟踪角度给出比固定深度 Transformer 更强的表达力论证。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180F02-7A48-4A26-819D-4B2B775A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9585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EF6A5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8484E3-4035-4D35-8D64-1E7C156F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不要过度承诺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D165D7-CB0F-43D8-A58C-48C5F15A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76850"/>
            <a:ext cx="3752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不要说: RWKV 在所有任务上天然超过 Transformer。迁移后的 GLM/DeepSeek 仍要通过质量、长上下文和工具调用评测。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840DB5-76A0-4128-A54C-2D481241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245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EB7C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AEB7C1"/>
                </a:solidFill>
                <a:latin typeface="PingFang SC"/>
                <a:ea typeface="PingFang SC"/>
                <a:cs typeface="PingFang SC"/>
              </a:rPr>
              <a:t>依据: RWKV-7 “Goose” with Expressive Dynamic State Evolution [3].</a:t>
            </a:r>
          </a:p>
        </p:txBody>
      </p:sp>
    </p:spTree>
    <p:extLst>
      <p:ext uri="{BB962C8B-B14F-4D97-AF65-F5344CB8AC3E}">
        <p14:creationId xmlns:p14="http://schemas.microsoft.com/office/powerpoint/2010/main" val="8729179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994869-ABAA-4CCF-8612-BABACE1A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76D95-89CD-4F61-8FC1-1C930E66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15EF2-47A6-498C-BD37-322D8798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METHOD CHOICE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53D5E-1E3C-4A2C-A92F-4245FE86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RADLADS 是 full-size 架构迁移；GAD 是行为蒸馏，适合作为后对齐。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FDCFD-8000-4626-BA16-3C75764E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2A9DB-9047-4ABC-A5BC-6B3AA806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B9C6D-FE34-480C-9451-4B552A43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C0E01-A31F-4CE0-BBD5-60F8BA97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BEC09-05D1-4FC3-A480-BDC69798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4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A058A-CFE3-4272-84BB-18A8AE31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8097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173E0-BECB-442D-B768-A0D69E27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859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做什么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3C610-B09E-4199-B234-62CA44D7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AEAEE-0ABD-494D-87D6-E3BF52C0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85950"/>
            <a:ext cx="1285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需权重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9A552-298C-4C09-8591-21CC9606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8097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898C76-F84D-4DFA-A2A0-E2DB65B3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8595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full-size 转换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1440D-56D2-44F7-B91A-E6BEF834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8097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76C838-225D-45C1-B004-75F3D246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885950"/>
            <a:ext cx="2238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最佳用途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653B65-D38F-4AFE-8DFD-EEE8BA1C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097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1AD9F-9088-4D08-ACAA-867557FF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859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主要风险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86C4CD-3AB6-4CA8-8C7F-C5B6B4D1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C89589-E5BE-4005-81B9-74F31134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20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RADLADS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0E1F32-951D-4188-B621-8F67AEDA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812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A596AB-8819-4129-AF3A-A8840FD5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574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替换 attention 为 RWKV/linear mixer，隐藏状态 + logits 对齐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E64736-3436-4898-8F9A-1F01D71F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FC959F-0377-4A3B-834A-8BA9DA7B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224172-7FBD-4A35-91B8-6E73925C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812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FEA7AA-9E20-40A0-A310-86181D27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574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E6943A-26D5-49D7-AF86-A5D23C54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812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3C956D-6923-4F7D-8334-2E714F95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5745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迁移 open-weight Transformer/MoE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52AD46-5EBF-48C7-8913-5E9A0FD5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E33486-F0BD-42AB-AC5D-26937D85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574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内存、映射、长上下文退化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0C2A75-6EE9-4411-B291-C07A2026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B3850E-CE50-4D8F-93E7-3CF0D1C5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20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GAD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BAF1F1-897D-41C7-8F8D-854ADFEC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527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890052-BF5B-49BD-A0AB-664D9633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289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黑盒 on-policy 生成 + 判别器/奖励蒸馏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D2C6D9-3131-43E6-AE36-6D1BA3AF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527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9BB935-703A-44CB-A035-634CCC13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69CD15-19EA-4463-BDEF-08AA3B84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9527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D51D74-450C-41EB-9699-B3F5B939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289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C9972F-7330-4195-86B2-484B453E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527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C901C0-C4B6-420C-8F28-88C35217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2895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后对齐、API 教师、小 RWKV 学生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E798C8-CE37-4173-AFE3-BFA3E42F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527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14C8D0-1573-4141-8CB9-8C2AF46A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289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行为像但内部知识不保真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49F0DE-1BF5-4CDE-84A9-78A28203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4810E4-C881-4D42-B5B3-E9ABCF14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20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SFT / SeqKD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29CC5D-22A9-4DCC-A275-0A2DB818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242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AF74F7-FEFA-4971-A9CA-ECE87317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监督学习教师输出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901030-95BD-4902-B822-43581A87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9795A4-D511-4C60-9E96-D59A6A4B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C255851-A840-47E8-9AFE-478D671E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242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B31DCBC-8B3C-40AB-A8B6-E9DB2AE8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004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BF55C1-22DE-427B-893A-2D602421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5242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E088EAD-9A4A-4BEC-AE0D-1E6D358B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0045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格式、风格、廉价 warmup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620CEF3-4ECE-4953-BAEB-101ABDB7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242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507A0B-3656-48D4-832A-88E82284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004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复制表面模式，弱于策略/工具行为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A0824F7-16CC-4B63-A866-52AA435C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B949E79-8C64-4E69-BBA4-5EAB5E6E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952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D3858D8-F426-489A-89E7-00DAFB2E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rPr>
              <a:t>为什么先 RADLADS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7085941-4E17-4E16-B63A-F0E75859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2609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案例锚点 B 和 DeepSeek V4 是 open-weight，能访问权重、hidden states 和 logits。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48A5D49-069B-44BE-8806-B51547B9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72000"/>
            <a:ext cx="2952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6BCF527-B811-40C3-8E40-051D604B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863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为什么还要 GAD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18460E6-7C10-425D-ADD0-8D130501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953000"/>
            <a:ext cx="2609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转换后仍可能丢失 instruction、coding-agent、工具调用风格；GAD 用来补行为层。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D213E7C-7482-460A-8535-F5D0B7D6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A7F566D-72EA-4DE4-980D-EAD3400D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86300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关键边界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35A8E27-4A5E-4021-A433-64BDD3C0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53000"/>
            <a:ext cx="2228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GAD 可以训练 7B/14B/30B RWKV，但这不是 full-size 范式迁移。</a:t>
            </a:r>
          </a:p>
        </p:txBody>
      </p:sp>
    </p:spTree>
    <p:extLst>
      <p:ext uri="{BB962C8B-B14F-4D97-AF65-F5344CB8AC3E}">
        <p14:creationId xmlns:p14="http://schemas.microsoft.com/office/powerpoint/2010/main" val="19195276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5BEECD-140A-4C6B-89DD-5B74D78C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37352-9299-4FB5-9759-08B2FD60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399DF-2DAF-41D4-9386-5C36D9C4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FULL SIZE REALITY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25BA4-90ED-457D-9F84-15EB7350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full-size RWKV 迁移不会显著缩小模型，收益来自服务状态与调度。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C3250-C292-4AFD-A83F-72893DA2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F3BA3-BE9E-4639-873F-01D6B5F5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51E75-5E86-4702-A27F-9370CC5D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A8DC7-0509-4B7D-8A5B-3F2FBF20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525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64085-58A6-4E5D-988E-E25EBC16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64DCB-402E-4061-905B-608908C5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7145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27733-F631-4E3E-AC3F-1D6B4564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7907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原始规模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1DACB-A461-4A2D-BDBC-A72CBD44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7145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315D0-15EB-4D2B-8187-7FFB4B93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790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预期 RWKV 规模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A2D43-4DFE-495F-A19F-6DF17B40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7145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7AD7F-FE4E-464E-A7BF-C8241C99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790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规模差异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F93DE-7AAA-438F-8C9A-7945C0AD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7145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DA4FC0-3CF8-4A68-ADB1-2140342F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7907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真正变化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C3B52-C8D3-4807-A14B-5F378DAB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76DA56-39EC-4BA0-B710-E98E3E00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2143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OpenMOSE GLM-4.7 例子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EAFDDC-9EFC-48ED-8E0D-549C98A4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266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0CF6A0-F895-4086-8831-0D6A0B4A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3431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31.221B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2DB25E-4CD5-49A5-B998-1F145677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266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94266F-C1E1-4770-B7CF-D72E55E1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3431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30.315B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54100F-A4AA-42C2-B803-2F5ABFC7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266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FEC912-54C0-473B-8BB0-7569320C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3431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-2.9% 实测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F26DC0-D44E-42CE-939D-6B80C296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266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A164B6-EB5A-4A76-93CD-CECA40D3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3431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attention -&gt; RWKV-7/TICA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A1B49E-2F73-41AA-A30C-D1A005A8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3E3312-8CF9-4358-B22C-974517F5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2143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案例锚点 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6E5697-56B1-4533-BE03-69C2F129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8194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062756-3D75-4C71-BEF3-93169FF8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8956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753.864B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C32B25-7240-435C-82BC-B4F767F0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194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8E381B-D8B9-4A05-B2F4-CBE0AC20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8956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~730B-760B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A9BFD3-71D9-423D-8F7F-B70173CD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8194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1B0750-3E06-4B6A-B00A-7C4F689D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8956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通常 +/-5%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3054E5-4231-44E7-A969-22BB2FFC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8194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7D38D3-6CB6-48E9-9827-6314BD1A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8956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DSA/attention -&gt; RWKV mixer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8A1683-A056-4F3F-8897-0369BC1A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30C5D8-B21D-423C-99B8-548113BB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2143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DeepSeek V4 Flash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599334-D3F2-45BC-93BD-7797C077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3718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7FAB8B-33C9-49B2-93C8-3EAE8161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4480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284B/292B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9DA178-99BC-43E2-B009-CCA53B40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3718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CCB7D1-2ACA-438A-84CC-CA5A9AD3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4480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~280B-295B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6BA8D8-353B-4A09-BE47-8013DFFF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3718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C62AD8-AA5C-4283-B07E-2AC75ED6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4480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通常 +/-5%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895459-5F82-4973-B1A5-80C6A609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3718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23A842-52A8-46F3-BF6A-198B08CA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4480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CSA/HCA -&gt; RWKV mixer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553FBF-D01F-4717-A7D8-00FE712E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856CDF-2231-459C-8FB5-CA1184B3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2143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DeepSeek V4 Pro（旗舰案例）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C04912-F7EA-4B24-AFA3-AAC8C7F3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924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B6376C0-B196-4ABE-8C90-0C1FE0A6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0005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1.6008T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E955FA6-24A8-473A-A2C4-1A8B6604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924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B2D1EA-0304-4FF5-8CD1-5AB1C1BF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0005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~1.55T-1.62T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023124-C913-43C7-BADB-EABEB0D6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924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B46B226-0E9E-4ADE-B82E-D6B73226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0005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通常 +/-5%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75288DB-7E32-412C-ABC7-F07D8470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924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0B39E2D-435F-454C-9EB7-F6A3BCE8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0005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旗舰 full-size 项目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3BD701-2F7E-41AF-98B1-AC7C1B10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E6FCA96-B664-41CF-B334-A8DA2D0E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E60110B-C67E-48D7-947B-A590FDEE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413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经济逻辑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964BBE2-E3F4-4FCA-8605-00455AD3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413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不是把 754B 或 1.6T 压成小模型，而是让长上下文服务不再按每个请求累积巨大 KV cache。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1C090A1-05A0-4E73-8086-D0C732A9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3395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94BE4D1-27D2-4DFB-BA49-6D9B91C0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4825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rPr>
              <a:t>研发逻辑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E8B988A-C196-46AE-8249-1A8138C4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14950"/>
            <a:ext cx="3752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保留 MoE/MLP/embedding/ tokenizer，降低从零预训练 RWKV 的成本与知识损失。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0B81601-0C28-4AD2-A66F-B0752838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EB7C1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AEB7C1"/>
                </a:solidFill>
                <a:latin typeface="PingFang SC"/>
                <a:ea typeface="PingFang SC"/>
                <a:cs typeface="PingFang SC"/>
              </a:rPr>
              <a:t>来源: OpenMOSE model card 与前序 safetensors 参数统计。</a:t>
            </a:r>
          </a:p>
        </p:txBody>
      </p:sp>
    </p:spTree>
    <p:extLst>
      <p:ext uri="{BB962C8B-B14F-4D97-AF65-F5344CB8AC3E}">
        <p14:creationId xmlns:p14="http://schemas.microsoft.com/office/powerpoint/2010/main" val="4747790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3C7AFD-E92F-4E57-92D7-5DE71C5F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DBE00-735F-4D90-AF8B-BD372043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807E4-EA16-40FA-89FA-DF8FDCC2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MODEL INVENTORY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555DB-7768-435F-B149-53B238AF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模型清单用于说明选型方法：不同大模型对应不同迁移收益与工程风险。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E8A1D-492E-4764-892C-067C215B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62881-0CCF-4C79-838A-A63A4314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2CD1D-8387-4B9E-9657-7D7D4131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78784-C54B-48C5-AB73-C53F1803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5735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FA6FF-048D-41E6-AFD0-2968C0B1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53C43-7EC4-4CB7-A0E4-650E8692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6573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07F05-7F51-4936-A184-C8872D2D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33550"/>
            <a:ext cx="838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开放状态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3F8B9-1ADD-435F-9DC0-73B24D17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573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B84EF-B3A3-425D-9E95-E51A1C5F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3355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HF/card 规模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2EFE3-7413-4ECA-82EB-07B47DA9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573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11CC6-E6A7-45CE-A73C-B888133D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33550"/>
            <a:ext cx="87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active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7133B-C3B1-45EB-B3AD-1D499CC4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573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17B54C-F610-425F-AF81-AE6E13D2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33550"/>
            <a:ext cx="714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上下文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7CF3F-9870-4691-8FCB-6D7DEF94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6573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629ADF-0469-40D3-AA0B-8CE7394E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733550"/>
            <a:ext cx="2047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架构事实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B40F2A-C535-4E6F-9B3B-69C1EFE2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573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51D089-EEBA-4C16-BBE9-E90054B9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335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RADLADS 可行性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997924-4A4B-4118-9D99-BB541C2E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907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531078-D897-4996-8E10-CEF4996F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OpenMOSE RWKV-GLM-4.7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EDA4A7-B379-4ED4-9D0A-7F63DD49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907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68C11C-6FAB-4488-BA98-02F874DA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6695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open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AE1E96-3AA5-4D2F-802E-7B14F521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2CC904-47B5-4F12-9A87-67FA05ED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6695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30.315B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203AD8-9495-4FD9-BD62-61292BAB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6EA264-0C92-4D34-8D90-6BC57851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87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A3B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E0FBCF-F81D-4D8F-8D86-B7B06B8B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907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12F352-30BA-49A3-ADA8-EBFBE43B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66950"/>
            <a:ext cx="71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202K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E3A8BD-783C-40B7-B755-2D010E1C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907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D742F5-8B11-42F5-964D-32259241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266950"/>
            <a:ext cx="2047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47 层 RWKV-7, 20 层 TICA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02A315-ED09-4BC3-974E-3D6BD09A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907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AA8D55-48CC-4DF1-BFAE-3DEFF8B2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669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已是 alpha 参考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5F1B20-F0C1-4417-82B1-05DE0C95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241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34611A-908E-417F-BFC0-42F8954D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案例锚点 B：GLM-5.1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A097D2-3C9C-4C7B-93E7-563A72C2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241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02274B-5ED2-4865-8DBE-BE3C7120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0035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open / MIT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AB2028-16A7-4AF0-8B5D-6238FB0F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241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BA736A-B100-43D5-9FE7-B2690AC2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0035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753.864B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BABA08-80F9-434C-9DCD-7EDC8BB6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517A9D-C86A-4AE2-BCD3-F5DACC37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00350"/>
            <a:ext cx="87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未明示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4ADC64-5E5B-471C-A346-73845804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241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DDE72C-0A2C-4D03-A5F6-379C7586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00350"/>
            <a:ext cx="71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200K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CCB4DF-9EDA-4FA5-AC47-91C749EA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7241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2285C0-888C-4CB5-96E4-38091DE9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800350"/>
            <a:ext cx="2047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78 层, hidden 6144, 256 experts, top-8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DBC0CE-6170-42FD-9AE7-313B5C16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241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5063FC-E0BA-430E-A1A6-A33DCE2E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高收益但高风险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60E441-44EA-4FFC-BF12-01C7B618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57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A78EEF-9D94-41E1-BBB8-604FAAC6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案例锚点 A：DeepSeek V4 Flash Base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7C23495-09C6-4A4A-B078-27E4CB0A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575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1BA1EDA-10F7-4AC6-8C42-DD84762D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3375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open / MIT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15BFDA-1D32-4B15-B223-DCF219C4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DA240E-7DFF-481C-9874-A67F192A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292B/card 284B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3E998A0-FBF5-4066-B5C2-7CC9E7C9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575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85F2B5E-8148-4B83-B429-5E607521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33750"/>
            <a:ext cx="87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13B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7CE24BE-70C1-4F19-9B00-4F5EDA16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575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2C9A24A-94FB-4511-9A0B-7E69A76F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33750"/>
            <a:ext cx="71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1M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2851C95-1775-4131-AA2A-85D27CA2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2575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84B5413-CDAB-4FE3-8C46-D298A215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333750"/>
            <a:ext cx="2047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43 层, hidden 4096, 256 experts, top-6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A4D292B-05E1-4F32-AC21-435D369C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575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D7FB43F-BAD5-42B3-86F4-F3A22AE0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337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低风险案例锚点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D7A28EB-1CFD-47E7-ADB8-8F707D42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909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20FBC5B-9571-4983-B7F2-7585FD77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旗舰案例：DeepSeek V4 Pro Base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FF8A9E8-3C28-47AC-ACBE-8E29DD13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909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0704320-1057-4B37-9D46-B8919DEE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6715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open / MIT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99BB29B-2613-4A5D-ACEA-A8359E0B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909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8F77355-515A-4842-AE52-FB489FD9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6715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1.6008T/card 1.6T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42FAE0F-8E3C-4C97-86BF-F8C1C575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909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8EFE5A8-773B-46ED-AA59-B9BC9316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67150"/>
            <a:ext cx="87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49B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9C5C1EC-2CD1-4339-8F4E-D042B4C4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909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34FE5F6-03A3-429B-A89F-4C64F8F7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67150"/>
            <a:ext cx="71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1M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8191F27-4B15-408F-9A0E-BBD59B7C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909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A7AC5FB-CDB1-4B32-9C77-451981B5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867150"/>
            <a:ext cx="2047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61 层, hidden 7168, 384 experts, top-6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9C909B2-E9AD-4AAE-8B70-B5ACEF45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909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06FBEE2-75DE-455D-BD49-E00D42C8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671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旗舰案例锚点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B42C463-F4A8-40C8-B4D5-F5017224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5A6BE9B-4242-4A60-B6D6-44CC7A2A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EDB4252-82C9-4D4A-A6EE-7129D399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合作评估起点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FB9409B-5EB0-4005-BFE8-EED540FC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2895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先用可复现实验建立共同评测口径：同 prompt、同 tokenizer、同解码，测质量、长上下文、VRAM 与吞吐。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929F151-5182-43C7-9E2C-A077A05C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FDC9391-1B02-4C4A-AD4D-9B2A7119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673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rPr>
              <a:t>低风险样例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22E1C1E-B2DB-4BC5-849E-C2EBCE1C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334000"/>
            <a:ext cx="2895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较小 active compute 与长上下文模型适合做低风险样例，用来验证迁移链路和服务收益。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7BB2FE2-68BE-4F7E-9B7B-23DB40DB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5300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3468B69-99D9-4BED-882F-FB2EF91A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6730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高收益样例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B0C10B2-E2D7-4FC2-8A6C-29942DF7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34000"/>
            <a:ext cx="2514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服务成本更高或 KV/cache 压力更高的模型，适合在方法稳定后验证更大的商业降本空间。</a:t>
            </a:r>
          </a:p>
        </p:txBody>
      </p:sp>
    </p:spTree>
    <p:extLst>
      <p:ext uri="{BB962C8B-B14F-4D97-AF65-F5344CB8AC3E}">
        <p14:creationId xmlns:p14="http://schemas.microsoft.com/office/powerpoint/2010/main" val="9324458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D456BE-20AD-41E5-AAC3-27CC03C7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C0759-6953-4855-915E-7632A647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61059-64F2-4E7A-8B0E-2BEA0397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RADLADS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37B62-2D8F-409B-AF4C-49E24CA2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RADLADS 的核心是先替换注意力，再用 hidden states 与 logits 拉回教师行为。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5E335-12C2-4408-8D5D-AE56D1EB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FEFD3-0E0F-4721-849A-CCBAC3A4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696DE-4C0B-40C7-AE22-AE8C4EE3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1C482-86C6-4D5B-A0D5-17DC7528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809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892DB-DECD-415A-8A0D-B9EFC995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323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EB7C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AEB7C1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CB04D-31D9-4759-A15A-6EC30D9E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574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拷贝教师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B02FF0-E9CD-464F-B679-2A33F12E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保留 embedding / MLP / MoE / tokenizer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0DC57-D93D-44EF-9F4F-72D204A4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7450" y="30289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1"/>
          </a:solidFill>
          <a:ln xmlns:a="http://schemas.openxmlformats.org/drawingml/2006/main" w="0">
            <a:solidFill>
              <a:srgbClr val="AEB7C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4D7C7-FE82-44C0-90B2-7D2C57A0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57475" y="29718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EB7C1"/>
          </a:solidFill>
          <a:ln xmlns:a="http://schemas.openxmlformats.org/drawingml/2006/main" w="0">
            <a:solidFill>
              <a:srgbClr val="AEB7C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AC5B54-F0F1-492C-AF9F-7599AB51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47900"/>
            <a:ext cx="1809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874CF-C747-4551-A751-50B9B480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19350"/>
            <a:ext cx="323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5F201E-31B6-492C-99FF-E4DB6D65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574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Hidden-state 对齐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5E0D6-7807-41EB-8AE1-99C1D3D0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0990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512 tokens, ~100M tokens, MSE/L2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15D92-CC4F-4FBE-A526-746CD666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30289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35C8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87F331-56BE-47E2-AA78-3A20B605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05375" y="29718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35C8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114CC0-4B23-499B-8541-FB9FB3B5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47900"/>
            <a:ext cx="1809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D17C9F-A022-491E-B545-D2F1315E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19350"/>
            <a:ext cx="323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0D18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50D18D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E1129C-7DD3-420C-B22D-0AFFC603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574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KL logits 蒸馏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DCE292-3A6E-49A0-921C-44723004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0990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512 tokens, ~250M-700M tokens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5F97B5-FE40-4C7B-AFC5-53CCDBA9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30289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D18D"/>
          </a:solidFill>
          <a:ln xmlns:a="http://schemas.openxmlformats.org/drawingml/2006/main" w="0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31FF03-DBC3-45BE-8196-99CFC9E8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53275" y="29718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0D18D"/>
          </a:solidFill>
          <a:ln xmlns:a="http://schemas.openxmlformats.org/drawingml/2006/main" w="0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D8C46C-9082-44E3-9442-A678B1DB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1809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45712A-C6DE-4261-A22D-A91702ED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19350"/>
            <a:ext cx="323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493D82-1860-49DC-8D06-ED72A4FF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长上下文恢复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9C771D-3412-4A2F-8F97-3F2B8C82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990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16K CE 或 4K KL 替代流程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576330-6A0C-4A67-81AD-BEEE36EE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0" y="30289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0148F0-711E-4AE2-824A-8C1698CC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01175" y="29718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178539-4EC8-4C70-8C68-4234300C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47900"/>
            <a:ext cx="1809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EF6A5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3595E2-572C-4D5E-B4C2-3BDE8520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19350"/>
            <a:ext cx="323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79FC21-1246-4E10-96A6-F5815825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4574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GAD/SFT 后对齐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973AA9-00CC-42EE-BBDF-412D26A8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0990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instruction / coding-agent / tool traces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7E3495-D313-4ECC-BDF2-1D2D9F80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495D02-323B-4DDA-8702-36A4CD4D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1965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rPr>
              <a:t>为什么比从零预训练便宜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2D682C-1041-48CF-95F1-235F7B45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86350"/>
            <a:ext cx="3752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序列混合器只需要学习模拟原 attention 输出和最终 logits，知识主要留在原 MLP/MoE 路径。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3F543F-BD84-43A4-A44F-48A74598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0535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016D55-F733-4BED-A79E-1173FD3A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1965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为什么仍然难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62A4EA-AB38-4EE5-917F-1F7D4B63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86350"/>
            <a:ext cx="3752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GLM/DeepSeek 是 MoE 和长上下文模型，路由、归一化、位置编码、teacher-student 显存都可能成为失败点。</a:t>
            </a:r>
          </a:p>
        </p:txBody>
      </p:sp>
    </p:spTree>
    <p:extLst>
      <p:ext uri="{BB962C8B-B14F-4D97-AF65-F5344CB8AC3E}">
        <p14:creationId xmlns:p14="http://schemas.microsoft.com/office/powerpoint/2010/main" val="93061151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A8CA4E-9552-45B6-874C-78701E09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70E82-8F08-4697-950B-D006A4C5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F42C2-7FF4-4A89-9AAC-C80DBFBF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CONVERSION BUDGET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AE37F-CD49-4A55-8CF6-8131887F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转换预算的主风险不是单次 GPU-hour，而是失败重跑与长上下文调试。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EE486-0285-4651-9D7C-5E676EAB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ED506-3123-4416-95E7-87AFCAE6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3EB794-BF03-46FC-8528-7CECA557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43C28-F980-47F2-8968-1450325C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5450"/>
            <a:ext cx="10239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356CA-4DDB-4AB5-9438-44014362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86034-FD9B-487E-9084-050113DC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695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5557B-0F27-4636-AE12-32161D0A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716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硬件假设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85431-FDD9-4242-8ECE-D7A03C2E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95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D498CD-01A7-4842-90EF-BCF947C4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71650"/>
            <a:ext cx="1190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墙钟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4910B1-F8A8-4FF4-B6E0-F6529D88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695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4F39A-45A7-4BC2-ACC7-40BAF47A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77165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GPU-hours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7F848-D87C-48C9-A8C0-F6AD102C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695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C90CB-479A-49B5-BFB9-B562B523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77165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compute-only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05828E-4405-4BD2-B669-C6D266DC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695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DAE90-7D3E-4044-927A-3F7353ED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7716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项目预算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D352D-68A4-4971-850D-9E8ACCB0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66950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CE25B0-4B79-4F97-9443-531BF3B0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DeepSeek V4 Flash -&gt; RWKV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2D7565-57E0-4C2D-8541-45EC1D7D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66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23B180-80CB-4F4A-AA75-2E9E8E62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431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32-64 H100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1CD8EF-4FE7-4F08-8C81-6DC3B9A7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66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B1E586-D062-48EB-AD5B-24F04C83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2-5 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6C73E3-DBF4-4284-9449-8BF00EDF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266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A5C7B5-C80C-4942-8956-F33018ED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3431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1,536-7,680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F62562-2BD1-424A-8252-F3DC1016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66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166470-66DA-4563-A515-1DC1894F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3431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$6K-$47K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B89670-DCBE-4B3E-B771-AB4FA082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66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87CEC2-FCFC-498C-B8F2-1DA10280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431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$50K-$150K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F9C9D4-C50A-4772-BF1D-DF7B46A3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38450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AA3C86-FB0B-4E87-AAEB-76309BC7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案例锚点 B -&gt; RWKV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796C9A-65F6-46CF-97F5-83A097C0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38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6C2A16-0A39-417F-BA47-0D4A3680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146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128-256 H100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8A2E9E-B675-4E56-AB8B-84087C7B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38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57D730-863C-4D6C-B766-364091B3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4-10 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77ECF4-4343-4C04-860F-CFAEB844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838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20B198-39ED-4B90-B0F5-8E6BC7D4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9146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12,288-61,440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40AF7C-733F-4A32-8D98-4A179DFF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38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CD32D1-1C69-4C16-9C25-DB8574B0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9146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$49K-$378K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279105-EEAB-465B-A41B-E6C4F8C6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38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C3EC1D-4545-4B4D-B322-046F086E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9146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$250K-$1M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2D25A4-3749-46FE-9DCF-74BCD335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09950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1C04A0-9E31-424D-A9B8-F97B7622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DeepSeek V4 Pro（旗舰案例） -&gt; RWKV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C2720E-D19C-455C-87B9-4CF671A7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09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835627-DBE5-4E09-94F6-0F64A6FC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861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256-512 H100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2CB1C8-9F27-48A7-90C3-1EBB1A9D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09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C2853EE-2DB5-4E74-ADCC-F69DCA44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7-21 天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D86676-CE02-402F-9DC9-AD6B3DCF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409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DDC7870-FD36-40C3-916B-41EFF787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4861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43,008-258,048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BA6876-3E21-4D2A-BFF9-73CC9099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409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A104571-B271-45AE-AFF0-9FD65C19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4861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$172K-$1.59M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522F5F5-9290-47E4-8180-E9D41FDD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409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F8A87BC-01A4-4BF8-9A65-00F4E9A2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4861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$1M-$4M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E175C0F-8BF6-402B-9696-E0883C62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81450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271E95-7135-4CCF-A751-F96C4A82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971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F359E8B-2784-4503-A08F-EC88A46D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估算基础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0ECB5A2-98B6-4EC0-9299-02F86FED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RADLADS 发布了 7B/32B/72B dense 转换锚点；这里按 MoE 规模、双模型显存和重跑风险放大。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21E5E4F-4E02-4C32-96DB-3D380246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76750"/>
            <a:ext cx="2971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6C68F64-EAF6-4347-91A7-6AFE0D5B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5910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为何区间宽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9A7E0DD-07A6-49D9-A44A-F2D382AB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577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公开结果不是 284B/754B/1.6T MoE；真实成本由架构映射、路由和长上下文稳定性决定。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CC68CC0-C871-47CD-8B8A-ABD1731F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767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EF6A5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51BDA13-8986-4BED-BB1E-2CC82178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91050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预算口径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70C7FC3-D145-44B3-A7BA-2D623B7C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577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compute-only 不含工程、评测、数据、失败 run 和 serving kernel 开发。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CB1D7AD-EE2F-4F70-A7D4-29BCD98B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EB7C1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AEB7C1"/>
                </a:solidFill>
                <a:latin typeface="PingFang SC"/>
                <a:ea typeface="PingFang SC"/>
                <a:cs typeface="PingFang SC"/>
              </a:rPr>
              <a:t>H100 价格使用 $3.99-$6.16/GPU-hour planning range。</a:t>
            </a:r>
          </a:p>
        </p:txBody>
      </p:sp>
    </p:spTree>
    <p:extLst>
      <p:ext uri="{BB962C8B-B14F-4D97-AF65-F5344CB8AC3E}">
        <p14:creationId xmlns:p14="http://schemas.microsoft.com/office/powerpoint/2010/main" val="121273844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029571-6C09-409A-8FED-FB429899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EE464-48C6-4813-A565-F1132A97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A9D38-6A41-40E0-8ED8-CF42AA5C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DEEPSEEK KV CAVEAT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3DB0A-5A09-4B15-A0E0-2D3998B1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已有 KV 压缩的大模型仍可迁移，但收益应按高并发与长会话重新计算。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06A09-2521-4CED-8676-7DC2A3C2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5F1B1-4D81-4D55-9F13-C04E1FB9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03667-DEA2-4C36-99EA-91AABAEA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2D506-C1F4-495F-A0FE-F633747C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77B58-0E6F-41EF-B367-FDBB70D0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3B454-5D75-497F-B41C-66FD611A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526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2CAC1-F7F0-4900-820A-5E6AAA3D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288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已有 KV 压缩模型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0A830-D39F-41C6-86CB-55CA8741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526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8155D-6DF2-4B40-9472-AF24195F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288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RWKV 迁移后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143AE-A226-4881-9C5C-B01E4460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526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46887F-315F-45B9-B46F-1D5CBD32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288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F6375-62A3-48D4-B801-B0B34586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BA7466-E1C1-49B6-884C-8A745DB5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单请求短上下文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64B696-D8EF-41DA-9AA8-868B8612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050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EF9DF4-BCF3-4B51-9607-6AF53E58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812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KV 压力已低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E00E73-8079-4E3C-9A53-49A33827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050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F1BD26-C490-44D5-8DDB-E4C7EF23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812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收益有限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3CE364-A9DD-4CBB-933C-73F25238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050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616FD1-2119-4BD6-BE8B-0B75697E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81250"/>
            <a:ext cx="2952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active compute、权重加载与 MoE 路由仍占主导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9C2607-9602-4BFF-9E1B-2301E34D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411D14-06BD-435C-9108-B8251307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1M 长上下文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B8AFB4-4A23-4DB4-B449-61008C3F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575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9D4653-4350-4E52-AF92-BA10F1E0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337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KV 约为常规 GQA-8 基线的很小比例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A26DBB-E863-4CA4-8308-D7D2E873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575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71FA7A-4023-46AC-BC6B-BD35851A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337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状态近似固定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3A18C4-4555-4026-9603-916C592F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575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6588F1-168C-4B81-BE79-96E891E5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33700"/>
            <a:ext cx="2952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已有 KV 压缩降低了传统 Transformer 的一部分弱点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120D7C-AF67-453C-8738-149483F0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259BD5-D571-4984-81DB-CD846C54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500+ 并发长会话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C6F36C-1204-4F10-85A6-F535E13B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09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7D1D5F-F01B-44E7-9378-9D44F92C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861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小 KV 也会乘以用户数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20A522-1035-4840-BBDF-9AA6FCCE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09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F08034-0EF5-4FEC-971C-1EE9ABCD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861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状态随并发线性但不随上下文膨胀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E45B43-AA3B-43CD-B390-A8CFC5D0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09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0CF27C-B161-498A-BE51-12C8DB9A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86150"/>
            <a:ext cx="2952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这是该类模型仍可通过 RWKV 获得高并发收益的主要来源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79C468-8860-49A3-AF44-D21DC574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6EBEF4-561B-4C6B-BA0F-D36CFBA8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B6CACB-B700-42F4-B3C1-7F71AFC2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8AC042-6616-49C3-93F8-0B5C0C4E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572000"/>
            <a:ext cx="2047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33C585-70CE-4D9D-A021-4AB02292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720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D1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43DCD3-2EF5-447A-945E-19167736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7200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42ACE0-B05F-467D-B522-E2507D8A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95825"/>
            <a:ext cx="12858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低并发: 5%-15%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366292-0B58-4B0C-A4C6-216527F1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95825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中等并发: 10%-30%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D8445F-ECC9-41C5-BC5B-8B11351A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695825"/>
            <a:ext cx="2266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高并发 decode: 30%-65%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7163E3-E3A4-422B-B9C1-8CB794CF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95825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长会话高并发: 45%-75%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46DD7E-47DF-4A43-8B97-9FAFA0C2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66B7C06-F73F-4E09-9708-D55AB0A1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428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2EAEFA-3365-4FA9-8D7D-84F5BEAE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29250"/>
            <a:ext cx="394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857365-20B5-49E1-84F5-5F716F9D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95950"/>
            <a:ext cx="3943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对已优化 KV 的模型，RWKV 不是简单 10x 叙事；合理目标是高并发长会话的 2x-4x 级收益。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670522-A6CA-4D15-B497-9A69D117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14950"/>
            <a:ext cx="409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5ADF241-C0EF-45DA-9B31-09536949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2925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对比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11FD27-155C-4D4A-8101-68759B89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95950"/>
            <a:ext cx="3752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对 KV/cache 压力更高的模型，RWKV 降本空间可能更接近 3x-6x。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64E099-B3C7-45B2-B872-6F485862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103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依据: 公开技术报告/模型卡；本页为工程推导而非官方报价。</a:t>
            </a:r>
          </a:p>
        </p:txBody>
      </p:sp>
    </p:spTree>
    <p:extLst>
      <p:ext uri="{BB962C8B-B14F-4D97-AF65-F5344CB8AC3E}">
        <p14:creationId xmlns:p14="http://schemas.microsoft.com/office/powerpoint/2010/main" val="118591166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E6D2C9-882D-457D-A2A7-6DD41985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00C9A-B998-43F2-875E-ECD8075B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C6927-CE24-4180-A954-59E78AE6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HIGH CONCURRENCY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83701-8EE3-499D-AAB1-EE0E320C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RWKV 的服务优势不是单流速度，而是高 batch 下的总 decode 吞吐。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C20C6-EFE9-4310-A10D-FE273123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9993C-7D61-4ED3-87DB-25765187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5E355-55C2-44DB-BBFC-64F0C37B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043CE-A953-490A-AC31-A4EE3ACD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009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77C1B-49FD-4F95-BCDF-EAA7FAC5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194AB-34ED-441E-AA6D-A88A15EB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954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13B42-63C7-40B4-8FCD-4B356631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71650"/>
            <a:ext cx="809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精度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43C4B-D084-4361-BCB2-97A69A63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6954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683DC-6F96-4211-ACAF-D969E2AD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7716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9583F-125C-49E8-9818-DED3360F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6954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004F2-9C1D-416F-8371-6456AC75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7716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总速度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9B75B5-5A86-4245-89F1-0207EA4D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6954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5CA7AE-DDF8-4AF5-857F-795655CA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7716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阶段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BF150B-B660-4699-906F-7A7A2DE3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6954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CE5C65-E9C0-4644-9485-6A1407B2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77165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硬件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70D3F1-AF31-40A6-A0DE-9E1923EF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954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6447CA-111F-4090-93DD-F211510E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716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相对 batch1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0CAFBF-0FD8-4F1F-97E7-06BA74C1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E22DE3-6F4E-43E3-859F-BA35D8B0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RWKV-7 7.2B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6B6AB3-0C1F-4445-AF32-80964E58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907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B0264A-4D9B-4D7E-98C4-98FCAD71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66950"/>
            <a:ext cx="809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fp16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79E3F9-E7C0-4510-8AF8-B7A3FD6D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1907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DAF0DF-012E-4ED4-BD5C-30CC98FD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669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928787-0C46-40E4-B56D-E0C16E71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1907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C8D37D-4079-4C61-B9AE-9A6018DD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6695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145+ tok/s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83DBB3-349B-4A54-8967-A9954E7F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907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5F14F7-7F62-434D-A093-49F1AD53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669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Decode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8C6DD8-48E6-435E-B32F-5396055F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907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72B534-6439-48AD-B969-5C248BB4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266950"/>
            <a:ext cx="1476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RTX5090 单卡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8448DC-892D-4BA3-88CA-F55EF8F9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B1D547-5AB3-4AA8-A399-F7434988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6695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1x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0AA480-B1A6-4472-AB65-E86B40A2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FD4548-C088-4B0A-BA33-5A67E293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RWKV-7 7.2B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F66546-3E25-4126-B5E3-B012E102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860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05B026-78B2-4FD2-9296-61D12B71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62250"/>
            <a:ext cx="809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fp16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E570E8-4E8B-4847-8B66-AA89B432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860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46E8DE-921A-4449-AB2F-C5C1B669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7622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320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AB46C1-A20C-4580-8C50-053D7FBD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6860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1048A6-637E-4645-92FC-3DABBFCF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6225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9650+ tok/s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2796DE-1866-4A91-B1F0-52FD3D84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860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BFA629-EF31-466C-8380-07346F16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622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Decode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C84C30-41A9-4FF8-A286-EA448DD9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A2EC34-68E4-4B6B-98CD-7B63487B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762250"/>
            <a:ext cx="1476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RTX5090 单卡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61450F7-02AA-4894-8D25-364FA849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A7A029-96D5-4869-A778-96FAF011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6225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~66.6x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08F96B-6313-4EB3-A40B-A4A6234A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BB4C9F-EA09-42B8-9155-DF0E794D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RWKV-7 7.2B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09A90E9-86CB-41F9-B22C-E7A5188A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813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04AEB4E-6C86-4FEF-9BE1-70D030FD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57550"/>
            <a:ext cx="809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fp16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5B2771-D1AC-4626-911D-0D5812AF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1813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9A0651D-8A06-4155-A89D-3AFACF57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2575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960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DB0547C-188E-42A4-93C6-8E8B61A2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1813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433C60-3C9A-4C53-A684-ABDB538C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5755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10250+ tok/s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39CF428-CD6C-4AFB-A8CD-0AE957A8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813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0D110F4-1551-43AB-82E6-7A76C791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2575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Decode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85E9BFE-948C-4EC2-B34D-262CDA39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1813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66FC8F8-0F44-47DD-8A87-2FD6032B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257550"/>
            <a:ext cx="1476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RTX5090 单卡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78DFA93-1990-4E1C-8213-12D41386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B43103-3248-4A06-BDE8-AF29C1F4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5755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~70.7x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672AA58-0B68-43B5-AAF9-61370BDD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898D08B-7646-4565-8E9A-90C43A99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RWKV-7 7.2B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DDE2699-AAAD-4B4D-A577-043EEF17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766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27F3EAB-3C9A-4423-8F9F-6566AFD6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52850"/>
            <a:ext cx="809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fp16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5B7EADF-DFD8-44E2-BB7C-38D94291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6766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6616EF2-8C2C-4DF7-8CFD-F35CC325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7528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F5A3E95-D028-4C87-950E-EBD6CF2A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6766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B372D7D-C271-4D2E-A05D-9C373F87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75285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11289+ tok/s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FDC061E-B998-478A-99FD-2A5F0DE6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6766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0F50841-3DEE-4D2D-BEB7-3D3F9832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7528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Prefill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268F9B6-1348-42E5-94CD-B476E3F2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766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60228A0-686A-495A-AC8E-268FA715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752850"/>
            <a:ext cx="1476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RTX5090 单卡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4C385B4-0C6C-4039-99EB-A60F2E69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766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F50318B-FC98-468D-BC0E-78446CCE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5285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3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N/A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5E4818C-6018-4CD2-9908-0FC0A39D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253FE90-9759-4964-B62F-040873A3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batch 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158AE17-7040-41EF-8161-57CCDDCC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72000"/>
            <a:ext cx="685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7E852BB-0C6D-4509-A5C0-1081261B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72000"/>
            <a:ext cx="9701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65858BF-3481-4741-BAAB-A27D3CD6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2437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145+ tok/s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C85B50C-5F02-4AA7-B73F-084393F7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577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batch 320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1F222B8-EF72-487E-88E4-B4CB577B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5850"/>
            <a:ext cx="685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7A18502-1215-4A8B-AF90-4B02086C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5850"/>
            <a:ext cx="645655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D1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FECD0D9-E6A2-4FF4-9E50-F7B48470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4822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9650+ tok/s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4F07ECD-891C-4115-8402-990EB314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816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batch 960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92F5B4E-F1EB-4295-9971-ADDECA09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19700"/>
            <a:ext cx="685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EA67E8E-3B34-4375-80EC-9D6612BA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19700"/>
            <a:ext cx="685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EE63090-276B-4F25-AA19-AF4D9FA1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17207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10250+ tok/s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30C628A-D3C0-4DFA-BA41-7D890B76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769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3510FBF-C242-4CFA-BC11-4DE2AF0D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91200"/>
            <a:ext cx="899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使用边界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A953F92-DF61-4544-AA27-4DA52E99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057900"/>
            <a:ext cx="899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机制证据，不做 7.2B 到 284B/754B 的线性外推；真实收益要在目标 MoE 上实测。</a:t>
            </a:r>
          </a:p>
        </p:txBody>
      </p:sp>
    </p:spTree>
    <p:extLst>
      <p:ext uri="{BB962C8B-B14F-4D97-AF65-F5344CB8AC3E}">
        <p14:creationId xmlns:p14="http://schemas.microsoft.com/office/powerpoint/2010/main" val="1836572614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6000" cy="127000"/>
          </a:xfrm>
          <a:prstGeom prst="rect">
            <a:avLst/>
          </a:prstGeom>
          <a:solidFill>
            <a:srgbClr val="35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6600" y="431800"/>
            <a:ext cx="4572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35C8D4"/>
                </a:solidFill>
                <a:latin typeface="Avenir Next"/>
              </a:rPr>
              <a:t>TIME-DIMENSION PARALLELISM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600" y="825500"/>
            <a:ext cx="13462000" cy="965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6F2EA"/>
                </a:solidFill>
                <a:latin typeface="Avenir Next"/>
              </a:rPr>
              <a:t>高并发不仅靠 batch：DPLR 让 RWKV-7 可以沿时间维度做 chunk 并行。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6600" y="1841500"/>
            <a:ext cx="14782800" cy="12700"/>
          </a:xfrm>
          <a:prstGeom prst="rect">
            <a:avLst/>
          </a:prstGeom>
          <a:solidFill>
            <a:srgbClr val="314352"/>
          </a:solidFill>
          <a:ln>
            <a:solidFill>
              <a:srgbClr val="314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90600" y="2717800"/>
            <a:ext cx="3937000" cy="2717800"/>
          </a:xfrm>
          <a:prstGeom prst="rect">
            <a:avLst/>
          </a:prstGeom>
          <a:solidFill>
            <a:srgbClr val="1E2B36"/>
          </a:solidFill>
          <a:ln w="12700">
            <a:solidFill>
              <a:srgbClr val="314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5400" y="3022600"/>
            <a:ext cx="31750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6F2EA"/>
                </a:solidFill>
                <a:latin typeface="Avenir Next"/>
              </a:rPr>
              <a:t>顺序递推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3759200"/>
            <a:ext cx="3175000" cy="127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20" b="0">
                <a:solidFill>
                  <a:srgbClr val="DCE3EA"/>
                </a:solidFill>
                <a:latin typeface="Avenir Next"/>
              </a:rPr>
              <a:t>逐 token 更新状态：
S_t = P_t S_{t-1} + k_t^T v_t
低延迟 decode 仍然顺序，但训练/长序列 prefill 会被时间依赖限制。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5200" y="2717800"/>
            <a:ext cx="3937000" cy="2717800"/>
          </a:xfrm>
          <a:prstGeom prst="rect">
            <a:avLst/>
          </a:prstGeom>
          <a:solidFill>
            <a:srgbClr val="1E2B36"/>
          </a:solidFill>
          <a:ln w="12700">
            <a:solidFill>
              <a:srgbClr val="35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0000" y="3022600"/>
            <a:ext cx="31750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6F2EA"/>
                </a:solidFill>
                <a:latin typeface="Avenir Next"/>
              </a:rPr>
              <a:t>DPLR 显式转移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0" y="3759200"/>
            <a:ext cx="3175000" cy="127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20" b="0">
                <a:solidFill>
                  <a:srgbClr val="DCE3EA"/>
                </a:solidFill>
                <a:latin typeface="Avenir Next"/>
              </a:rPr>
              <a:t>P_t = diag(exp(g_t)) + b_t a_t^T
对角衰减控制 dim-wise forgetting，低秩项提供跨维耦合。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099800" y="2717800"/>
            <a:ext cx="3937000" cy="2717800"/>
          </a:xfrm>
          <a:prstGeom prst="rect">
            <a:avLst/>
          </a:prstGeom>
          <a:solidFill>
            <a:srgbClr val="1E2B36"/>
          </a:solidFill>
          <a:ln w="12700">
            <a:solidFill>
              <a:srgbClr val="50D1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4600" y="3022600"/>
            <a:ext cx="31750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6F2EA"/>
                </a:solidFill>
                <a:latin typeface="Avenir Next"/>
              </a:rPr>
              <a:t>Chunk-wise affine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04600" y="3759200"/>
            <a:ext cx="3175000" cy="127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20" b="0">
                <a:solidFill>
                  <a:srgbClr val="DCE3EA"/>
                </a:solidFill>
                <a:latin typeface="Avenir Next"/>
              </a:rPr>
              <a:t>一个 chunk 可压缩成：
S' = M S + B
多个 chunk 的 (M,B) 可做 prefix scan / CP 并行。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30800" y="4089400"/>
            <a:ext cx="584200" cy="25400"/>
          </a:xfrm>
          <a:prstGeom prst="rect">
            <a:avLst/>
          </a:prstGeom>
          <a:solidFill>
            <a:srgbClr val="35C8D4"/>
          </a:solidFill>
          <a:ln>
            <a:solidFill>
              <a:srgbClr val="35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>
            <a:off x="5715000" y="4013200"/>
            <a:ext cx="177800" cy="177800"/>
          </a:xfrm>
          <a:prstGeom prst="rtTriangle">
            <a:avLst/>
          </a:prstGeom>
          <a:solidFill>
            <a:srgbClr val="35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185400" y="4089400"/>
            <a:ext cx="584200" cy="25400"/>
          </a:xfrm>
          <a:prstGeom prst="rect">
            <a:avLst/>
          </a:prstGeom>
          <a:solidFill>
            <a:srgbClr val="50D18D"/>
          </a:solidFill>
          <a:ln>
            <a:solidFill>
              <a:srgbClr val="50D1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>
            <a:off x="10769600" y="4013200"/>
            <a:ext cx="177800" cy="177800"/>
          </a:xfrm>
          <a:prstGeom prst="rtTriangle">
            <a:avLst/>
          </a:prstGeom>
          <a:solidFill>
            <a:srgbClr val="50D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0600" y="6248400"/>
            <a:ext cx="4191000" cy="1168400"/>
          </a:xfrm>
          <a:prstGeom prst="rect">
            <a:avLst/>
          </a:prstGeom>
          <a:solidFill>
            <a:srgbClr val="17212B"/>
          </a:solidFill>
          <a:ln w="12700">
            <a:solidFill>
              <a:srgbClr val="50D1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93800" y="6400800"/>
            <a:ext cx="3784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50D18D"/>
                </a:solidFill>
                <a:latin typeface="Avenir Next"/>
              </a:rPr>
              <a:t>为什么重要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3800" y="6756400"/>
            <a:ext cx="3784600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DCE3EA"/>
                </a:solidFill>
                <a:latin typeface="Avenir Next"/>
              </a:rPr>
              <a:t>这把 RWKV-7 的长序列计算从“只能逐时间步串行”改写成“chunk 内局部计算 + chunk 间 affine scan”，是高并发训练/预填充的第二条路线。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45200" y="6248400"/>
            <a:ext cx="4191000" cy="1168400"/>
          </a:xfrm>
          <a:prstGeom prst="rect">
            <a:avLst/>
          </a:prstGeom>
          <a:solidFill>
            <a:srgbClr val="17212B"/>
          </a:solidFill>
          <a:ln w="12700"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8400" y="6400800"/>
            <a:ext cx="3784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B84B"/>
                </a:solidFill>
                <a:latin typeface="Avenir Next"/>
              </a:rPr>
              <a:t>代价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8400" y="6756400"/>
            <a:ext cx="3784600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DCE3EA"/>
                </a:solidFill>
                <a:latin typeface="Avenir Next"/>
              </a:rPr>
              <a:t>DPLR chunk 形式引入更多中间变量和 HBM 压力；它是训练与长序列 prefill 的并行化机制，不直接等同于交互式 decode 加速。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099800" y="6248400"/>
            <a:ext cx="3937000" cy="1168400"/>
          </a:xfrm>
          <a:prstGeom prst="rect">
            <a:avLst/>
          </a:prstGeom>
          <a:solidFill>
            <a:srgbClr val="17212B"/>
          </a:solidFill>
          <a:ln w="12700">
            <a:solidFill>
              <a:srgbClr val="35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03000" y="6400800"/>
            <a:ext cx="3530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5C8D4"/>
                </a:solidFill>
                <a:latin typeface="Avenir Next"/>
              </a:rPr>
              <a:t>放进成本模型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03000" y="6756400"/>
            <a:ext cx="3530600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DCE3EA"/>
                </a:solidFill>
                <a:latin typeface="Avenir Next"/>
              </a:rPr>
              <a:t>服务评估应拆开：decode 高 batch 并发、prefill 时间维度并行、以及长会话 state/KV memory 三个收益来源。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600" y="7772400"/>
            <a:ext cx="134620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80" b="0">
                <a:solidFill>
                  <a:srgbClr val="AEB7C1"/>
                </a:solidFill>
                <a:latin typeface="Avenir Next"/>
              </a:rPr>
              <a:t>新增引用 [9]: Zhiyuan Li, DPLR 数学原理：显式转移矩阵的并行计算, 2026-02-21, https://zhiyuan1i.github.io/posts/dplr-mathematics/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600" y="8686800"/>
            <a:ext cx="10414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7F8D9A"/>
                </a:solidFill>
                <a:latin typeface="Avenir Next"/>
              </a:rPr>
              <a:t>rwkv.cn | arXiv, model-card and DPLR source based estimates | 2026-05-08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0" y="8661400"/>
            <a:ext cx="431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F8D9A"/>
                </a:solidFill>
                <a:latin typeface="Avenir Nex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8AD74F-B80A-465D-AEBB-BDBF8E32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EE15C-91E2-4A90-9B96-A909942C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D73CD-71BC-4081-B4D8-CAFFA926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COST REDUCTION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FA7FD-370B-4737-950F-EC1C2177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高并发把 KV cache 从单请求问题放大成集群 sizing 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6BD14-0998-4FE0-B8FF-F3CAE946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869F0-5DFD-49B7-AE7B-00FB9F45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2FB88-1ABB-46C1-8A33-491198B3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22373-7D64-4A5F-B550-6186BFFC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0906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397C3-ED06-49D5-9679-4A559734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2428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负载形态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B1E82-CE75-47CA-9DCD-EBB06108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6764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6912A-403B-4414-BBE9-C2814E1D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75260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低 KV 案例 -&gt; RWKV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8F132-CD2E-4166-B7BA-A65537AB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764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9321E-F148-47CE-90AB-ED93AFF1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旗舰案例 -&gt; RWKV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7B75E-5DEF-42E4-9769-5406F64C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6764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C8A1C-F254-4F94-BA5F-831D3C48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75260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高 KV 压力案例 -&gt; RWKV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13953-37C2-452F-9B4F-8ED188F8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764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5C738-4913-4BD2-8463-766EBD00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52600"/>
            <a:ext cx="2238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原因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AD9A37-5853-4FE6-A976-0E4CB80B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1CF7FB-A363-40E8-9364-0A6283A0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短聊天 / &lt;8K / 低并发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4E48A0-09EA-4B56-BC7F-ABBCC1DA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907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5901E3-C390-4A1D-8116-642A62A0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26695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5%-15%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13DFD1-C73E-4E84-A197-6F3A5776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E45C8-C535-444C-8EC8-50FAA05B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6695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5%-15%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BB4D9F-A7DF-4BE6-B621-6E790D19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1907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1C0973-E343-4D20-9A70-4FF149BC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26695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10%-20%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D321C3-AD57-4C1B-8F6C-102FC481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907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931E78-C82F-45C9-AB93-F4212D63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669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KV 压力不足，active compute 主导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873228-843A-416E-A2F1-6077F336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EBE746-4572-49F5-B809-40C71736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普通 coding / 8K-32K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B45A09-B823-481A-B25B-59484782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7051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FE3C55-7DBB-4255-94D2-91F08DC0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78130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10%-25%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ACB5DD-E543-41D0-812A-5173F556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051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06465C-9F5C-472B-BB33-7D5AE38B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8130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10%-25%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73F6A7-0CA3-474C-BBDC-F65ECB74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7051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CD1038-C964-45A4-96A5-B968FF24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78130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20%-40%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B099CF-60B0-4A62-AD5D-46E580E7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051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85026A-1485-4761-AB32-F1B8D0A5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8130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有 batching 与少量 cache 收益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A96D69-C936-45E5-BABA-AC2E0574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0D4860-1EA4-47B5-9544-6635C832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95650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Agent 服务 / 32K-128K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843638-99FE-4818-B14E-6D3F59E8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2194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03C94C-BDA2-46E0-B7B7-27DF48B8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29565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30%-55%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DDD767-084D-466B-8C92-B27C721A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194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1EEA26-97EB-4B06-8E1C-06AC9DAE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9565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25%-50%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F2E70C-3B40-42E9-892D-B6FDB6D9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2194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7051AA-3AE3-4C64-8E58-C5BD4A11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45%-70%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438097-D84D-468F-A516-85FD9D4F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194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5BF68A-6C73-469C-A2B1-54D89929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956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并发会话开始放大状态成本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221189-D2C6-49C5-AB09-C298F10D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69A83F-E0E8-4CBD-8C7B-2A66FF7A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0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多 agent fan-out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040979-8474-48F9-9BF0-B48048C8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733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E41550-675E-486B-A587-250E66D7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81000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40%-70%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6786923-63AE-40FD-AA12-9AA2FE12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33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E4731E-E92E-4626-A81A-4D6156EA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1000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35%-65%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78A328A-448F-44C7-94C1-4D12A5F3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733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C1DD8AE-434C-4040-BB18-B28A3D4B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81000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55%-80%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DE53B57-BA5D-482B-970B-A3CA28E2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33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6C32F0E-4D1C-4705-81E7-F001D757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1000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接近 RWKV 高 batch 优势场景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3D2EF5-EF31-46D0-993F-7250A468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E6C949-8E82-4A03-A3B7-29743EE8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24350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长驻高并发长上下文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858A570-C432-4634-A083-FF02820F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248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21EC432-CB7A-461C-8E91-9EAA2BE1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32435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50%-75%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60C5449-2908-4082-94C7-5A3C94EE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48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7C0E060-9D33-4F5D-B459-5F8F18B3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2435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45%-70%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599504D-8B7A-4AA9-AF7E-D2DF9B2A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248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0F49F20-3D87-4657-8608-ABBAA686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32435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65%-85%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0187DC5-56EC-4D5A-8FEF-BCF0C80D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48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ABA1AE2-1923-40DF-A3A2-A7A57C89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243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KV/cache 乘以会话数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B00DBAF-D7B8-4BE6-B0D5-723EDFDD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E1401D3-DF9E-4608-866F-489F447A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409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B20E655-0FA5-4B8B-AFC2-B39A5405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7210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rPr>
              <a:t>低 KV 案例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CC27650-28AC-45C6-BEF2-F62981CE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38800"/>
            <a:ext cx="3752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已有小 KV 时，合理目标不是 10x，而是高并发 2x-4x。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15709B3-8175-4CE7-BC47-92803016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57800"/>
            <a:ext cx="409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41DFAAB-EBCE-4CDA-AC00-4B3988D6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7210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高 KV 压力案例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68E2292-955F-4050-A35B-1B68E030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38800"/>
            <a:ext cx="3752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KV 压力更高时，高并发长上下文可能达到 3x-6x。</a:t>
            </a:r>
          </a:p>
        </p:txBody>
      </p:sp>
    </p:spTree>
    <p:extLst>
      <p:ext uri="{BB962C8B-B14F-4D97-AF65-F5344CB8AC3E}">
        <p14:creationId xmlns:p14="http://schemas.microsoft.com/office/powerpoint/2010/main" val="28205579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16D992-0CF4-4553-A390-A708A479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8390F-5E6F-464B-968A-B06FA7B3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A94AA-A5AA-4F26-8A45-4BCFE8AC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PRICE EQUIVALENT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1CBFD-72CF-4993-89E6-2D035EA5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如果能保持质量并跑满高并发，RWKV 自托管可把 API 等效价拉到明显更低。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3E2E8-F4AE-4B62-B163-B54CF54D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64387-BABF-431A-9818-B51BF129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7F077-0F00-4D70-897C-770CE0C8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ADFFF-2720-4762-8747-FE0ADE05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57350"/>
            <a:ext cx="11287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2C925-30D9-4BAB-9042-4E3CFB73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335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4C9D1-2E4C-48F9-B45D-B80A14A1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573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AFBD0-7FDF-41DE-9F95-6B2EF040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33550"/>
            <a:ext cx="2238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当前公开 API 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68F13E-F9FF-48B7-AE9D-BD4B5CB7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573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8D9884-FCDA-4750-87C8-B9F6065C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7335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低/中并发 RWKV 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C123DF-4EFF-4545-B7E4-017AE0C9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573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1B9DF-2DAD-4FEA-A74B-490DDB64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335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高并发 RWKV 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28832-31E2-4BE2-A822-D3C107AF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6573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A4A36E-EE50-42C3-9829-6CA32D74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335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备注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8AD2E-89C9-4FF1-9283-9A2713F6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09800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BD3315-D3AB-43EF-B3E3-149C4A2D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DeepSeek V4 Flash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CE7A1E-08D6-49A9-8E0B-8C68F8CC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FEBE16-92C5-410F-9C4F-2E24189F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2238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$0.14 in / $0.28 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6993C-81CA-4ABE-9CAF-E5D0E88B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098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53D477-F43A-4838-9604-9C4AA9EA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860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$0.10-$0.13 / $0.20-$0.26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992C14-819E-49A2-8720-0DE738E3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098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EDED79-0096-4671-BBEF-8FFD1955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$0.04-$0.10 / $0.06-$0.16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818CA3-AFB0-4A3D-A5AB-6B14C7A7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2098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C4F26F-D959-412A-9D64-2A4D0C50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860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cache-hit input 极难打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3F490C-73F4-4EF1-9CDF-A9E5485A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62250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028842-2816-4E94-B03D-20E0C994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384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DeepSeek V4 Pro（旗舰案例） 折扣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6ABE5E-7E48-4DEC-AC9F-49C5BC9C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622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55AAC2-73C8-4D9B-8EE9-17AEE09E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38450"/>
            <a:ext cx="2238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$0.435 / $0.87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C84B1C-3590-4B53-9F47-41E26AD4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622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821F89-9A33-456E-B656-3FBBC58C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3845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$0.35-$0.43 / $0.65-$0.85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385BBA-8C42-4656-AF8A-B52C6C22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622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E965EF-4C6D-4DB7-8A3D-174AD841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3845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$0.15-$0.35 / $0.25-$0.55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F48786-F915-4CC1-B859-9B327C60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7622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782794-D3D2-491C-9C86-DFB32FB0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384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需高利用率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DD7ADF-B65C-454D-BA63-736FAC9B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14700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243BCA-93CF-4E64-BB23-489C5860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909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DeepSeek V4 Pro（旗舰案例） 标价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143DC4-F08E-451C-83E4-F8C9E033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147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7C2AA1-4D91-4802-9153-654B5A78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90900"/>
            <a:ext cx="2238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$1.74 / $3.48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7D6841-BF04-48C1-BF9A-7F6278E0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147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87C834-E386-4D20-AE29-43BFC9EE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909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$1.20-$1.60 / $2.40-$3.20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7E056F-ECCE-46F8-910F-3125BAA2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147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180D55-D9F5-448A-B24E-7F831A0A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909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$0.40-$1.00 / $0.60-$1.50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33E8CA-2F5F-4629-A0FE-87D4DA85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3147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8BD312-9BDC-4A6A-84A7-7912B4A4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909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可打标价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054BC2-929B-4BC5-BA88-10553E2F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67150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79DB87-13B8-442E-9018-4E0D0751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433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案例锚点 B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542ECD-75EF-438B-9A2B-3821F090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671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E9B513-292E-4372-8586-4C33DD57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43350"/>
            <a:ext cx="2238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$1.40 / $4.40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ABC624-0DF8-4D63-8536-8FCAD13D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671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C9E41B-9C4E-465D-9142-AA843916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4335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$0.80-$1.10 / $2.20-$3.30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9DAA3D-0D4E-4172-B95C-4D553133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671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993B32A-173F-4626-9C77-9BB9A0DB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4335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$0.20-$0.70 / $0.60-$1.80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776D987-528E-4236-8239-4F5174AC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8671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57C92B-4F1D-4E93-94A3-D43B4D3A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9433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经济 upside 最大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AD307DF-29F8-48B6-B691-0B30F66C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19600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58BBF9D-F337-4B29-BEDF-0BAA895F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4248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2A27B89-4B3E-467D-ADD7-12668E83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成本公式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14E86D0-1E56-4FAD-B0D8-FB0AFCF6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483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self-hosted $/MTok = GPU-hour price / (aggregate tok/s * 3600 / 1M) + overhead。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A027E5A-075B-40A6-8775-DED1A178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67300"/>
            <a:ext cx="4248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EF6A5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C9A530D-C789-4346-8B24-FFB0BC0A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8160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重要前提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1474AF2-D615-48F0-9BBE-913F72B4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483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上表不是 provider quote；它假设模型质量接近教师、serving stack 能保持高 batch occupancy。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8E13124-E43E-46AE-A5AB-D5849461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EB7C1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AEB7C1"/>
                </a:solidFill>
                <a:latin typeface="PingFang SC"/>
                <a:ea typeface="PingFang SC"/>
                <a:cs typeface="PingFang SC"/>
              </a:rPr>
              <a:t>单位: USD per million tokens, input/output。价格随厂商和折扣变化，需要上线前重查。</a:t>
            </a:r>
          </a:p>
        </p:txBody>
      </p:sp>
    </p:spTree>
    <p:extLst>
      <p:ext uri="{BB962C8B-B14F-4D97-AF65-F5344CB8AC3E}">
        <p14:creationId xmlns:p14="http://schemas.microsoft.com/office/powerpoint/2010/main" val="33004566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A3B917-948F-4D28-83C8-B06FC68E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60E51-43C8-46AF-9A99-545E3EB2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B8365-860D-4834-8997-75F669D9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TARGET PROS / CONS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2CD36-0939-4B25-B851-9E228279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候选模型选择取决于工程风险、经济 upside 与合作目标。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7E808-77FC-4AE0-8A1A-9690DB0E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33643-791F-4371-9550-F8C2D3A6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F2609-AF55-4A3D-9313-467856C0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4A2DC-5776-4A51-95D1-97C67D63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76400"/>
            <a:ext cx="1076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E9135-FF82-45FB-B3B2-4D2011A4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72A5F5-FF04-4602-AB6B-962F4133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764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423F4-CE52-4C12-B19D-63FACF21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752600"/>
            <a:ext cx="3000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优点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BB64F-1A72-4CAA-972F-897B9406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6764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387647-4DA1-40A9-A742-01D156ED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752600"/>
            <a:ext cx="3238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缺点 / 风险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355914-DE7F-4B7D-A850-03CF0181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6764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76D5E4-8BD1-412A-85CE-E6645923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752600"/>
            <a:ext cx="2238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最佳角色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7CE4B-28CF-4816-B1FD-69BE3D91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431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7EF85-2B2F-4D1D-A52D-D60340E5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案例 A：低风险长上下文模型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186D67-2EDA-4A4A-9ED8-B59DDEC8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431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195C30-CA6F-43CB-A712-AB066B8E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19350"/>
            <a:ext cx="3000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active compute 较小、已有 KV 优化、开放权重；适合验证迁移链路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F15B93-4608-4E2E-896B-D1714EF1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3431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5B735E-CD40-4EB3-9B84-2063E2A6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41935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需证明 RWKV 在强 KV baseline 上仍有高并发收益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E9D59D-176E-44EF-947D-2D200142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3431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7AB0F8-6CBC-4113-A2A8-856AC460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41935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低风险案例锚点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377378-92B6-4457-A45A-431AA230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099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A938E6-B16B-4B0B-889D-811BAB5A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案例 B：高收益成本模型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4BC85D-5CF9-4575-9259-C8B1CB42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099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2C9F4D-25BB-4C95-953D-117276CB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86100"/>
            <a:ext cx="3000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服务成本高、长上下文/KV 压力更明显；适合验证商业降本上限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62B202-4D37-40F7-BCF7-7674B9FD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0099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93B8FD-0CEA-49A9-B0A9-62FA132F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8610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总参数和 MoE 复杂度更高；需要更强 infra 与评测投入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368840-87BA-42C0-BB8A-686BC511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099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5D76D5-FC65-41CD-BC5C-B0F28BBE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08610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高收益案例锚点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675F98-00BB-4B4C-A5A0-D41D0FEB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766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13E0EE-ADA8-43E6-86F3-32775E32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旗舰案例：超大规模模型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CE9823-56D7-45A2-8B26-853CC62F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766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008AF4-197A-4AEB-9958-AFCDC990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752850"/>
            <a:ext cx="3000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最高质量或最长上下文目标；适合成熟路线后的联合验证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AA17A3-5DF0-44E3-8F1A-D21CCF98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6766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1E4D7F-F863-4418-8CFD-03D3D255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5285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teacher+student 显存、存储和失败成本极高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3D003C-8182-4A71-B436-16360782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6766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49E5A7-D70F-4740-BBF7-7ED67009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75285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旗舰合作项目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B14949-A676-4656-837F-1F88F32B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434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0E293D-EC48-4F0A-B1F7-66B6BAA8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5B0BE0-1C0B-4F5E-B7B6-EBFD3B81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2705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rPr>
              <a:t>低风险案例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82076C-3A29-4B36-A0CC-547CEE67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此类模型适合先验证架构映射、训练稳定性和 serving kernel，而不是承诺最大降本。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DAC070-C89E-4C1C-AB72-C6B6CA81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4350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B74A2F-2996-4210-9B72-B74C7CCF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257800"/>
            <a:ext cx="2705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高收益案例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D2C7B0-4132-444C-B334-8066669E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2450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此类模型适合在迁移链路稳定后验证更大的商业降本空间。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DCC6AD-0092-4ED3-9BA2-C06A3AB7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43500"/>
            <a:ext cx="2571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EF6A5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910271-77AD-4B5F-9C92-C2A4A902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57800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旗舰案例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1DD189-32D8-4D3D-AAC5-70C2E3C2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52450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旗舰级模型适合在方案成熟后作为联合验证项目，不建议作为首个合作试点。</a:t>
            </a:r>
          </a:p>
        </p:txBody>
      </p:sp>
    </p:spTree>
    <p:extLst>
      <p:ext uri="{BB962C8B-B14F-4D97-AF65-F5344CB8AC3E}">
        <p14:creationId xmlns:p14="http://schemas.microsoft.com/office/powerpoint/2010/main" val="54278791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8D50DB-9D35-4447-9444-614350D8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C3E57-3179-41FA-9C7C-CCD933A5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89AEA-7641-4372-B2C3-063801D8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RISK GATES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49F50-F6C5-489B-9167-3A8DE5A9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迁移是否成功，不能只看 loss；必须同时过质量、长上下文和服务门槛。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0982D-66A0-4A9E-8AAA-1339D5B6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B9F59-599E-4C9E-ACFA-63B70603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A257B-9FBF-4799-92CA-91CD0A28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FF05A-B32E-4F20-9652-FD56E5AB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19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DA86D-D8D3-4D16-BEDF-1B01258A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F80A3-1991-4328-B104-08C564DA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619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02F39-2F45-425F-8036-B688DF9E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6954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通过标准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2A434-F016-4B39-93CB-E21B10D1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619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41FA5-BDFC-43F0-9B9E-7BAFE7AC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954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失败信号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EC016-2238-4962-8AB4-342B6933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19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A4B73-C735-4FAF-BF49-9A7A886A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954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处理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8F7F78-9C73-419A-B3A7-5D30CFD2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43663B-3EF9-492B-955F-5B13BD21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质量保真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EB5926-EB28-428D-898C-536D2201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52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6D31CF-F1AE-4F42-A4B1-2A9C0186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288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核心 eval &gt;=90%-95% teacher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954F6C-048C-4BAC-9049-CC3DE3BF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52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EF7542-A2D3-4EE7-B2BD-CDC78123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288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知识、推理、代码显著掉点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19640F-E3FD-4FE4-8F4A-19E8303A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52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4D7AF8-9942-4DC7-9A80-30198A7B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288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回看 KL/hidden 目标与数据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1E7474-9B01-445A-B23C-81FD58CC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6B0BE9-BEF4-4E1F-B313-DA92C8E7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长上下文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7B0007-197D-471B-A3AE-77ACB8BF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86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FF78D2-4DE7-414D-BEA9-D3C97148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622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32K/128K/200K/1M 按目标稳定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277D3D-66D1-46FD-8983-20685F1B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86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FBE3C0-FDD3-47E2-891A-B5B4D8C9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622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NIAH/RULER 掉到不可用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7D5E30-1DEB-484C-8E0B-C553E0C0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86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01E3B2-CA30-4BE1-836E-4B79F442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622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长上下文 KL/CE 与状态设计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369349-0E51-4BB8-B390-5D247167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FA5EF5-42D0-48B5-A94C-49DBCA28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服务收益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48D7A8-E766-4340-BC2E-898740F1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194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92F092-A0D9-46A7-BDD4-C147FA14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956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高 batch aggregate tok/s 与 VRAM 明显优于 teacher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3B4C01-D394-4D60-97C7-330BF86D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194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26F7C9-CD06-48EA-BDE5-E73401FB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956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单流可用但 batch 不放大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75E219-9A97-4A3A-A95F-5D264B1D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1DCDA1-3D5C-4D74-9111-11748B6A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956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kernel/scheduler 重写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11096F-EF40-4D9F-B9E9-C4E7AC32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0A9815-51D1-4838-AEAF-2CD7BDBA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工具/agent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742DA0-BDF2-4FF0-AAD0-3DEFA65C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52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F5D6D7-FF20-4850-959B-8CE6E502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290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tool-call、repo-agent、SWE slice 不退化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102488-D528-4EEB-A498-DCB832E7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52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FAE474-B507-4F58-88CF-BE17A23E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290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格式漂移、长链路崩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338B25B-E8E7-4EBB-A17E-A3964D10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52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135C93-B9E3-41E3-AAA2-F49E41F4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290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GAD/SFT 后对齐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9773C0-44A2-4EAA-8B7D-9DCCED15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E21D2E-BE7E-4A0E-A3C0-E53552EA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可运营性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0C2E57-0AE1-4D40-A16A-B3C4E174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86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B5F75F-2462-4043-A1BC-7932A371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624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checkpoint、quant、监控、回滚可行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711DE9B-769D-4668-A53A-9DCD4891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86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0B17D2-4183-437B-83B5-FE53AF30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624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只在研究脚本可跑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35ADB64-A499-40C6-8206-6178D027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86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E519EB-6746-412E-9E50-B1B744F5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624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先服务 Flash，不先上 Pro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C26B55-EEC7-4BA6-9288-C8720D58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06880E4-20B3-4C05-8216-F50B5A2F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EF6A5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2E3D49C-BF80-4957-B662-4FE0393C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9590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最低上线门槛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16D866-2D78-4A43-9B08-005A8ABA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62600"/>
            <a:ext cx="3752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至少同时证明质量接近、长上下文有效、高并发成本下降。缺一项都只能算研究样机。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38158E2-11A2-4199-AD6E-404EB269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81600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3DA5529-C2F4-4FB2-A45B-EC034756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9590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rPr>
              <a:t>范式迁移门槛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5818442-BA30-4FF0-B6E2-3534EAE9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562600"/>
            <a:ext cx="3752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能在同一 serving stack 中把 KV-cache fleet pressure 改成 recurrent-state fleet pressure。</a:t>
            </a:r>
          </a:p>
        </p:txBody>
      </p:sp>
    </p:spTree>
    <p:extLst>
      <p:ext uri="{BB962C8B-B14F-4D97-AF65-F5344CB8AC3E}">
        <p14:creationId xmlns:p14="http://schemas.microsoft.com/office/powerpoint/2010/main" val="118851610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4FBBEB-6B93-442D-8F0B-A5048FF3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23F44-AA8B-4AAC-8C1A-704C082B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98DE6-D7FB-4DCA-A279-8BD8AF56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EXECUTION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B62BC-9345-4F85-AC91-EE63906D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合作路线图：先建立共同评测口径，再选择合适案例进入 full-size 迁移。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6F284-41CD-41D8-BA95-8C28E9D7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9F6DB-3C33-4ACA-B7AE-DF1C1B2D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2C170-A24D-4041-BF88-77F4BE84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211AF-2B7D-49F3-9D48-3C202FD8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5430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C3E34-FC29-4F60-844B-94F0EC73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7A220-B8C6-4395-9E44-055E702B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基准复测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2283F-212B-45C9-84CA-382027B8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&lt;$1K-$5K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03483A-F482-43DB-8883-6CA84A5B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AEB7C1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AEB7C1"/>
                </a:solidFill>
                <a:latin typeface="PingFang SC"/>
                <a:ea typeface="PingFang SC"/>
                <a:cs typeface="PingFang SC"/>
              </a:rPr>
              <a:t>同 prompt 质量/速度/VRAM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32C41-9B57-4890-AF5C-9D44EFC6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9527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770DEC-91E1-4F41-9D1C-1536DC9B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47900" y="28956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979C3-9DEA-414D-AF45-C7B44EFD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15430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4AA40-604C-44A8-A49F-B431F15F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622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76049-A9E2-4779-975A-0BBBBC23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方法复现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0A1B86-AC5E-4754-BDD0-8A614B0F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956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$1K-$10K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86D808-0B15-47F7-96D0-828C681B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813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AEB7C1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AEB7C1"/>
                </a:solidFill>
                <a:latin typeface="PingFang SC"/>
                <a:ea typeface="PingFang SC"/>
                <a:cs typeface="PingFang SC"/>
              </a:rPr>
              <a:t>证明训练脚本与 loss 下降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4B0945-D755-45AC-9654-F7FC6781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1450" y="29527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81FC14-928E-4A2E-8397-0437E6CF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33850" y="28956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C734C5-0651-476A-9CED-BB7CF30B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15430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047E10-061C-4781-9EDE-E91B7EBD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622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9CEC7C-267E-4EC3-9885-B894C404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0030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候选模型映射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592F86-599A-4CF1-A715-9545F061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$10K-$30K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AF003B-CE75-40F0-B326-E404BCDD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AEB7C1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AEB7C1"/>
                </a:solidFill>
                <a:latin typeface="PingFang SC"/>
                <a:ea typeface="PingFang SC"/>
                <a:cs typeface="PingFang SC"/>
              </a:rPr>
              <a:t>forward/router/tokenizer parity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BF7E65-172B-4C59-AFEC-E829C119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29527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0414D4-A060-4472-9D98-93B0D9F5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019800" y="28956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6063D7-7B30-4F1D-91C5-D050F151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15430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A0AC05-E0F5-4AD3-97CF-719011A4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0D18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50D18D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5E9245-1916-46AD-AF51-C01BAEC8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030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full-size 试点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6F1D06-869B-42DD-B71B-2815D4E0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956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$50K-$150K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66A046-E451-4133-A2AD-58B99840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813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AEB7C1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AEB7C1"/>
                </a:solidFill>
                <a:latin typeface="PingFang SC"/>
                <a:ea typeface="PingFang SC"/>
                <a:cs typeface="PingFang SC"/>
              </a:rPr>
              <a:t>&gt;=90%-95% 质量 + 服务收益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B04B18-5BF6-43A1-9520-D05A4702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29527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803906-E247-42D7-83DC-C2643A02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05750" y="28956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861FD4-8EC5-4612-889A-B5F1A013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15430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788DA1-88B8-4770-A461-44E81ABD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622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0D18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50D18D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C262F9-A85B-4AFA-99D0-436B3C79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GAD 后对齐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EE51A7-C944-4D32-BBBD-C82A94DF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$5K-$30K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8F900E-8A4E-4973-8E58-CFDC57F1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813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AEB7C1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AEB7C1"/>
                </a:solidFill>
                <a:latin typeface="PingFang SC"/>
                <a:ea typeface="PingFang SC"/>
                <a:cs typeface="PingFang SC"/>
              </a:rPr>
              <a:t>instruction/coding-agent 恢复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E7DB91-E335-44C5-963B-EDBD0E3B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9300" y="29527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230A1A-876E-4120-ADC5-4C84E31C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791700" y="28956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827A5E-1601-4BE4-B8C8-15873AAD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90750"/>
            <a:ext cx="15430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024AA7-F352-4846-949F-223E0ED2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622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F85CD0-B88C-4BC4-9051-6EE1292D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40030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规模化案例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195FA2-BC8F-4873-86DA-E77E969C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956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$250K-$4M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90C7E7-CBEC-4607-B496-55100E95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813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按合作目标选择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509DCD-5741-4467-939B-2D597912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4095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EF6A5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CC18CA-9907-488D-98C8-688EF707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7680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阶段退出条件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0E6EC7D-44D3-4561-BA16-775E455D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0"/>
            <a:ext cx="3752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若基准样例未达到 90%-95% 质量或长上下文不可用，应先修正方法再放大。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81E4F8-70B3-4369-8AE7-7141CD37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4095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52F7A4-8EB5-4984-B297-4BB5E1F3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7680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rPr>
              <a:t>合作试点建议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F8C8E3-806C-4F1B-BF19-9047CE4A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43500"/>
            <a:ext cx="3752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合作试点应选择真实高并发 agent/coding 或长上下文负载，用实际 batch occupancy 测成本。</a:t>
            </a:r>
          </a:p>
        </p:txBody>
      </p:sp>
    </p:spTree>
    <p:extLst>
      <p:ext uri="{BB962C8B-B14F-4D97-AF65-F5344CB8AC3E}">
        <p14:creationId xmlns:p14="http://schemas.microsoft.com/office/powerpoint/2010/main" val="119618877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7CB598-F3E2-4BD8-BB37-AED7092F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AB7FD-A0A6-48D5-B4CC-28686E89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47054-D884-4A76-A331-14DBE7ED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35C8D4"/>
                </a:solidFill>
                <a:latin typeface="PingFang SC"/>
                <a:ea typeface="PingFang SC"/>
                <a:cs typeface="PingFang SC"/>
              </a:rPr>
              <a:t>REFERENCES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B1BCA-C4BB-41F0-B040-9734F8A6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6F2EA"/>
                </a:solidFill>
                <a:latin typeface="PingFang SC"/>
                <a:ea typeface="PingFang SC"/>
                <a:cs typeface="PingFang SC"/>
              </a:rPr>
              <a:t>参考资料编号：本 deck 说明通用迁移方案，并以公开模型与公开资料作为案例锚点。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E342A-06C7-4754-8860-3EC37F48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79ADF-0733-4391-91E1-FCC39097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7F8D9A"/>
                </a:solidFill>
                <a:latin typeface="PingFang SC"/>
                <a:ea typeface="PingFang SC"/>
                <a:cs typeface="PingFang SC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CC131-E944-4A66-A5C4-2CD2ED45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7F8D9A"/>
                </a:solidFill>
                <a:latin typeface="Avenir Next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D98CE-1FF1-4AB9-BC99-1A998B71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1191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77C28-3C40-43DA-A681-7E88402E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编号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0904B-8AE2-479D-AC3E-CB713943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04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D79D9E-EAF1-4202-8FCD-AACA782A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81150"/>
            <a:ext cx="352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B3158-747C-4726-AD28-4F5FD3CA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04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C81703-ACBB-4DD4-AB51-AD2E318B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581150"/>
            <a:ext cx="519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用途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65823-7E25-4E5A-A054-B1AEEBBF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504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257E6-DB23-458A-A282-D7EF0A0B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15811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链接/编号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D5F97-500E-416D-BC58-F349FA95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444D8-CAB8-4768-BAF8-39F1EE4C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[0]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09C0FF-9EF4-4C43-A4FD-8A55BB22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85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9A5C3-C5BC-49BA-8093-59E47103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621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rwkv.cn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444F4C-3362-413B-8062-8169D994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85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EE55BD-2C5B-43F9-847C-89F14BC5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62150"/>
            <a:ext cx="519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官方定位: 新一代架构、无 KV cache、高并发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7C37DC-50A8-4444-BADF-C5F861F7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885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437DC8-422F-42F8-A395-D1F1045D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19621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https://www.rwkv.cn/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7A1237-268E-437C-AA60-A33C1F98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D6F558-1B20-499C-B38E-2653B8CF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[1]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0C8186-31EE-40FE-8409-0D27F506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66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57552A-E995-4970-A667-047C24AB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431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RWKV: Reinventing RNNs for the Transformer Era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63BA98-FDE3-49BF-8674-2309E641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66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3C225A-A623-4CD4-BDEA-9D18932A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43150"/>
            <a:ext cx="519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RWKV 基础架构论文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2A5765-BE2A-4E9F-BA1B-1F365AD2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266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BB0D5F-6AC9-49B7-991F-0ADF2BC6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3431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arXiv:2305.13048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D6723F-5E91-4BB7-B8C9-88A1C8E0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92F679-7340-44EB-B6E8-D679646C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[2]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702114-20B6-4931-B819-F9C9FBE7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58499D-6784-4EB4-AA2D-5508129A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Eagle and Finch: RWKV with Matrix-Valued States and Dynamic Recurrence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EFAC54-8731-472E-B0A8-86F38FF9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47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E7120F-3FE1-46EA-BF72-0AD92B06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24150"/>
            <a:ext cx="519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矩阵状态与动态递归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1E7E9B-419E-4F2A-A6E1-C7D57ED2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647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02AF14-450C-4D1C-ADC0-67B38436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7241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arXiv:2404.05892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8DB9AC-1012-4B7A-970C-14B3167D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DE3436-57A4-4544-8D75-C5A870DA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[3]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2E5A0E-7243-4654-9A2D-3FACC294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28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ACC1B2-039F-4F5D-BA7A-0BC69DED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051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RWKV-7 “Goose” with Expressive Dynamic State Evolution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4657F4-C723-4CC9-A613-CDAE6C9E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28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752DD2-DDA7-48D0-B065-6B1B4640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05150"/>
            <a:ext cx="519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表达力与动态状态演化论证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F0CBCA-316A-48E7-8DFD-39C3C14E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028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AC79A2-8D29-4DFE-BE45-5E1245F2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1051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arXiv:2503.14456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A47F1B-8A3F-4A7A-9A4A-76574F9C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78B8FF-2329-4691-A291-89829178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[4]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CB518B-F67E-4F2E-A799-59610C9B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E422C6-3829-4519-BC09-2450802D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861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RADLADS: Rapid Attention Distillation to Linear Attention Decoders at Scale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242D19C-291B-412D-8840-9B70F2DD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9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40FC03A-967D-4637-933B-DD910F74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86150"/>
            <a:ext cx="519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full-size 转换方法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02FBCE-142D-479D-8A5E-EB4397E5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409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4C8E90B-8977-4FAE-ABDD-5D8BF851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4861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arXiv:2505.03005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CAAA5FD-8D6C-4D4F-9319-82DAF34F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909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7016552-653E-4659-AD9D-A5D07A48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[5]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9E84731-528B-43BD-A009-A6C9836E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3C90F1D-D54A-4FD2-938B-AE2A6816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671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GAD: Generalized Autoregressive Distillation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FCC5847-ED73-4CBF-80BB-6300C417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90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089401A-5542-4BEE-88E5-5C142B3C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67150"/>
            <a:ext cx="519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后对齐/小模型行为蒸馏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91AC8A8-C353-4D33-A2E0-308FF24A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790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4B76488-97BF-40AE-9AAB-2318B433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8671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arXiv:2511.10643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DA5F1E0-AC53-47C3-8F32-9EC1D1B4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E9EB2C0-CC60-4529-BE98-26382449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[6]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C9041E9-C41B-4832-9DBE-BD6A406C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71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7EA6E68-34A9-4DDD-8147-4A9C204F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481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OpenMOSE RWKV-GLM-4.7-Flash-exp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D07272B-4E24-492C-A1F3-6B60CAE5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71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FACDB53-BEE8-4393-AF2F-75058510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48150"/>
            <a:ext cx="519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30B 级 full-size RWKV 参考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F360AC9-96FE-4F8B-8E1B-F9EBC2A9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171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B0A7587-6056-4DDA-BE24-42A895DD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2481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Hugging Face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5C9C0C5-A134-43CB-8EBE-EE5E6593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529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019A860-970B-4E32-ADF7-6E39A208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[7]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5B46033-A811-459E-847D-52E5DA4A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2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21D9945-6825-4951-8479-52F4A357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291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公开模型卡与技术报告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A7C9DE2-7EA1-4F2E-BB98-F0074912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52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710D24B-5099-4ECA-9386-F16E92E6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29150"/>
            <a:ext cx="519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规模、上下文、KV/cache 与价格假设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D5F53F2-57D0-4805-957A-E37615B4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552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B4E06A4-7623-41AE-815B-BA2EE3B2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6291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HF / docs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FCDB6D1-6B43-42A4-8228-9FA3843D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3E8D9E2-1A91-42B5-81F3-E1D99F6D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1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[8]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A05FD4B-1BF5-49CD-A476-CACA6985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33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3BE33D7-797F-4B7B-BB81-EB412ED5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101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RWKV 超并发项目教程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5A431E5-EA79-4AA0-ABAA-7EEAD98A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33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98F05C8-69F3-4339-B8E1-92096CDC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010150"/>
            <a:ext cx="519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RTX5090 batch 1/320/960 实测锚点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7976F55-EF65-412F-A20D-CDB8BE02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933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BC8EEE4-A587-4B86-BF38-4F46F5B6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0101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mp.weixin 本地 HTML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2704C02-4B4A-44BF-B119-58E53CD3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149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C486398-6771-4423-8AAD-4C826D6F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22A9467-8DF0-4F0A-90F8-CE71FB85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81650"/>
            <a:ext cx="899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0D18D"/>
                </a:solidFill>
                <a:latin typeface="PingFang SC"/>
                <a:ea typeface="PingFang SC"/>
                <a:cs typeface="PingFang SC"/>
              </a:rPr>
              <a:t>对外合作建议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B9CA1FD-18AA-4F1F-A774-EF4E82DE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48350"/>
            <a:ext cx="899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将 RWKV 迁移作为“架构范式迁移 + 服务经济性验证”的联合方案推进；GLM/DeepSeek 仅作为公开案例锚点，具体模型按合作目标选择。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FC71313-F503-4BE5-9C2A-8695499A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293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EB7C1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AEB7C1"/>
                </a:solidFill>
                <a:latin typeface="PingFang SC"/>
                <a:ea typeface="PingFang SC"/>
                <a:cs typeface="PingFang SC"/>
              </a:rPr>
              <a:t>注: 具体 API 价格、模型卡参数与论文版本会更新；正式投资/上线前需要再次核验。</a:t>
            </a:r>
          </a:p>
        </p:txBody>
      </p:sp>
      <p:sp xmlns:a="http://schemas.openxmlformats.org/drawingml/2006/main">
        <p:nvSpPr>
          <p:cNvPr id="93" name="Rectangle 92"/>
          <p:cNvSpPr/>
          <p:nvPr/>
        </p:nvSpPr>
        <p:spPr>
          <a:xfrm>
            <a:off x="10439400" y="1422400"/>
            <a:ext cx="4572000" cy="533400"/>
          </a:xfrm>
          <a:prstGeom prst="rect">
            <a:avLst/>
          </a:prstGeom>
          <a:solidFill>
            <a:srgbClr val="17212B"/>
          </a:solidFill>
          <a:ln w="12700">
            <a:solidFill>
              <a:srgbClr val="35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4" name="TextBox 93"/>
          <p:cNvSpPr txBox="1"/>
          <p:nvPr/>
        </p:nvSpPr>
        <p:spPr>
          <a:xfrm>
            <a:off x="10642600" y="1549400"/>
            <a:ext cx="41656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30" b="0">
                <a:solidFill>
                  <a:srgbClr val="DCE3EA"/>
                </a:solidFill>
                <a:latin typeface="Avenir Next"/>
              </a:rPr>
              <a:t>[9] DPLR 时间维度并行：显式 DPLR 转移矩阵、chunk-wise affine 与 CP/prefix-scan 并行。zhiyuan1i.github.io/posts/dplr-mathematics/</a:t>
            </a:r>
          </a:p>
        </p:txBody>
      </p:sp>
    </p:spTree>
    <p:extLst>
      <p:ext uri="{BB962C8B-B14F-4D97-AF65-F5344CB8AC3E}">
        <p14:creationId xmlns:p14="http://schemas.microsoft.com/office/powerpoint/2010/main" val="18273970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2026-05-08T06:48:01.7930000Z</dcterms:created>
  <dcterms:modified xsi:type="dcterms:W3CDTF">2026-05-08T06:48:01.7930000Z</dcterms:modified>
</coreProperties>
</file>